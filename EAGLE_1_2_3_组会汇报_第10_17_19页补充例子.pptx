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7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74" r:id="rId23"/>
    <p:sldId id="275" r:id="rId24"/>
    <p:sldId id="281" r:id="rId25"/>
    <p:sldId id="276" r:id="rId26"/>
    <p:sldId id="27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开场：本次不是简单罗列三篇的创新，而是先回答为什么要预测 Feature、Feature 究竟如何变成连续的候选 Token、Target 怎样一次验证。理解这些后，EAGLE-2 和 EAGLE-3 的动机就很自然。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这三代并不是同一个地方反复优化。EAGLE-1先发明 Feature-level Drafter，EAGLE-2把有限验证预算分配给更好的草稿分支，EAGLE-3把草稿训练目标和训练过程重新设计。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先解释普通自回归：生成每个新 Token 需要做一次目标模型的增量 Forward。推测解码把少量开销用于 Draft，再让大模型并行检查多个位置。不是说 Draft 猜的所有 Token 都直接输出，而是经过 Target 验证后才可能接受。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此页不要解释成“Feature 在数学上一定比 Token 更容易预测”。论文基于经验观察：second-to-top-layer 的连续 Feature 自回归，对受限容量的模型更可学；目标模型原本就会产生 Feature，无需草稿模型从零建模完整分布。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用符号固定时间顺序。Target 读完 I like 后得到 f_t；f_t 经 LM Head 是 x_(t+1) 的概率分布，从中采样 eating。重要：f_t 不是 eating 的 Feature，而是已有位置 t 的 Feature。只有下一位置被处理后才有真实 f_(t+1)。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强调：同一个 f_t 可以生成同一份概率分布，但随机采样会选不同 Token。选择 am 的后续上下文是 I am；选择 like 是 I like；这两个上下文对应的真实下一 Feature 一般不同。因此只把 f_t 给 Draft，就会发生多种未来混在一起的不确定性。若用贪心解码，采样歧义不再随机，但论文还考虑有随机采样的推测解码。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这一页是EAGLE1核心。顺序是先由 Target 的 f_t 分布选定 x_(t+1)，再给 Draft 一对条件 (f_t, x_(t+1))，Draft 预测 fhat_(t+1)，经共享 LM Head 得到 x_(t+2) 的概率分布。第二个 Token 不是偷看答案：x_(t+1) 在 Draft Forward 前已经被采样。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指着每一块讲：Target 已经读完 I like → 当前真实 f_t → 采样 eating。因为 eating 已经确定，Draft 可以结合 f_t 与 eating 预测下一位置 Feature fhat_(t+1)，从共享 LMHead 得到 pizza 的分布。这个 pizza 才是未来草稿候选，尚未验证。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直接回答学生最关心的问题：是的，EAGLE-1 推理时和 EAGLE-3 一样，确实会使用自己的预测 Feature 继续下一步。区别不是 EAGLE-3 才能连续输出，而是两者如何训练这种连续能力。第二次 Draft 的输入不再有真实 f_(t+1)，因为 Target 还没验证 eating 和 pizza，故暂时以 fhat_(t+1) 代替。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EAGLE-1固定Target获取真实 Feature 作监督；预测 fhat 后，先用 SmoothL1 要求预测向量靠近真实向量，另外还比较这两份特征经过相同 LM Head 后生成的概率分布，使用 token 分布交叉熵。论文原始总损失是 L_reg + 0.1 L_cls。EAGLE-2 的主贡献并非改变该训练机制。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接原第10页解释。Target在真实Feature f_(t+1)上计算下一Token的分布p，Draft在预测Feature fhat_(t+1)上经过同一个LM Head得到分布q。原EAGLE使用Token分类/分布交叉熵 L_cls = CE(p,q)，并与Smooth L1构成L_total=L_feature+0.1L_token。例子：词表只保留pizza、soup、rice三个词。老师p=(0.7,0.2,0.1)，Draft起初q=(0.3,0.4,0.3)，交叉熵1.146；训练后q=(0.65,0.25,0.1)，交叉熵0.809。数值为演示。注意p是软分布，不是把pizza作为唯一的硬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单链的问题是前面的 token 一旦不被接受，后面的内容没有了合法上下文。EAGLE允许相同位置有多个备选 token，把草稿组织成树。注意图是示意，实际每层分支预算由配置决定；EAGLE-1仍采用预设的候选树形状。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这页请放慢。把候选树节点按一个固定次序展平成长度6的向量：I am always happy ready late。送入Target做一次并行计算时，Mask保证每个Query只能注意自己及本分支祖先。不可见位置加负无穷，使softmax权重趋近0。给出happy那一行，能看I/am/happy，不能看到always/ready/late。这个展平不是把不同分支串成一条自然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GLE的lossless含义：target根据自己分布验证，必要时在拒绝位置执行残差概率的重采样，维持目标模型的原始生成分布。候选树提高的是同一次大模型调用能覆盖多少可能路径，而不是让多个互相冲突分支同时作为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截至EAGLE-1我们已回答为什么是feature、怎么逐步生成、怎么树验证。下面先按时间顺序讲EAGLE-2：只修改候选树的选择逻辑。再讲EAGLE-3：回到draft训练，提升输出 token 的质量和连续预测能力。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和EAGLE-1最大的区别在候选选择。EAGLE-2用 draft 的 token confidence 近似未来接受机会，但不能直接比较局部 confidence。例如E虽然自身0.8，却需要祖先B也被接受，整条路径概率估计是0.2乘0.8，只有0.16。路径value是启发式估计，不是target真实接受概率。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不是简单的一次最终top-k。它每一轮优先把 draft 的下一步计算给高value节点。产生许多候选后，Reranking 再全局比较候选，选取预算M个最值得送入Target的token，并确保子节点的祖先都在。EAGLE-2主要是推理阶段的组合优化，沿用前代草稿训练路线。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学术精确表达：EAGLE-3 abandons feature prediction in favor of direct token prediction，并不代表它的Decoder不输出向量。它输出a，a经Target LMHead得到token分布，但是a不被要求等于真实的f。取消Feature Loss给模型更自由的表示空间，有利于从更多训练数据中获益。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这是一个数学上自洽的简化示例，不是说真实目标模型的LM Head就是恒等变换。若词表只有两个Token，LM Head输出2维logits，Target的真实feature是[2,1]，EAGLE3的中间隐向量是[5,4]。它们相差[3,3]，所以按feature数值回归会有非零损失；但softmax对同一个常数平移不变，因此两个向量转成Token分布完全相同。这表明逼近真实hidden feature不是最终Token预测性能的必要条件。EAGLE-3仍计算隐藏向量a并由共享LM Head预测token，但不再要求a等于Target的feature；真正训练过程中仍需要优化token的分类损失。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告诉听众：EAGLE-1推理时就能用自己的fhat连续推测。问题是训练时主要拿目标模型真实Feature作输入，训练-推理存在分布差异。EAGLE-3取消feature拟合约束后，这个差异可能更加明显，所以训练时从第一步开始就把自己产出的a放回下一步的输入，经过多轮模拟并在多步计算token训练损失。原论文实现中会调整 attention mask 来高效进行这种训练。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低中高三层分别提供不同抽象级别的表示，拼接后FC降维得到g。这个g用来替代EAGLE-1仅使用靠近输出端的高层Feature。结合移位token embedding送入新的drafter，内部输出a通过LMHead产生候选token，并延续EAGLE-2动态树技术。结合上一页，所有变化一起增强了草稿多步质量。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这个例子把原第19页的结构换成实际Token流程。Target已经处理 I like，得到当前位置t在低层、中层、高层的hidden features。假设每层维度d=2，低层l_t=[0.2,0.8]，中层m_t=[0.6,0.4]，高层h_t=[0.9,0.1]；先拼成6维，FC从3d压回d得到g_t。这些数只是维度示意，不对应论文真实权重或输出。再由已经选定的Token eating取embedding，与g_t一起给Draft，输出中间向量a_(t+1)，经过共享LM Head预测下一个候选pizza。注意从当前位置f_t到f_(t+1)的时间下标。多层融合增强上下文表征，但没有取代右移Token：不同被选token会导致不同的后续候选。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这里特意只选同一个表格、同一模型和任务：Vicuna 13B、MTBench、Temperature0，EAGLE 3.07x、EAGLE2 4.26x、EAGLE3 5.58x，平均接受长度分别3.98、4.83、6.65。全部是相对于标准自回归解码。这张表支持“三代加速逐步提升”，但数值不要和别的任务、模型的最高6.5倍混算。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收尾总结：EAGLE-1解决如何利用目标模型feature低成本提出候选；EAGLE-2解决有限预算怎么选择高价值候选；EAGLE-3解决草稿模型怎么训练得更好。不要误讲成EAGLE-3才会用自己的Feature自回归，EAGLE-1推理阶段早已有。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1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C9488"/>
          </a:solidFill>
          <a:ln w="12700">
            <a:solidFill>
              <a:srgbClr val="0C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03504"/>
            <a:ext cx="2788920" cy="365760"/>
          </a:xfrm>
          <a:prstGeom prst="roundRect">
            <a:avLst>
              <a:gd name="adj" fmla="val 35000"/>
            </a:avLst>
          </a:prstGeom>
          <a:solidFill>
            <a:srgbClr val="233D5F"/>
          </a:solidFill>
          <a:ln w="10160">
            <a:solidFill>
              <a:srgbClr val="233D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0350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C8E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研究生组会 · 技术机制精讲</a:t>
            </a:r>
            <a:endParaRPr lang="en-US" sz="1130" dirty="0"/>
          </a:p>
        </p:txBody>
      </p:sp>
      <p:sp>
        <p:nvSpPr>
          <p:cNvPr id="5" name="Text 3"/>
          <p:cNvSpPr/>
          <p:nvPr/>
        </p:nvSpPr>
        <p:spPr>
          <a:xfrm>
            <a:off x="749808" y="1399032"/>
            <a:ext cx="10652760" cy="941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1 → 2 → 3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804672" y="2505456"/>
            <a:ext cx="104241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CFDE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Feature 自回归预测，到动态草稿树，再到 Training-Time Test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10332720" cy="0"/>
          </a:xfrm>
          <a:prstGeom prst="line">
            <a:avLst/>
          </a:prstGeom>
          <a:noFill/>
          <a:ln w="15240">
            <a:solidFill>
              <a:srgbClr val="4B6C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2153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9B4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0392" y="4681728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预测什么、怎样连续预测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42153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DA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4681728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预算该给哪条分支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42153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D5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4681728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E8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怎样把 Draft 模型训练得更强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336792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1C6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基于上传的三份论文笔记，结合原论文核对关键机制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今天只讲清三件事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沿着「候选怎么来 → 候选怎么选 → Draft 怎么训练」这条主线递进。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论文笔记：EAGLE / EAGLE-2 / EAGLE-3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1874520"/>
            <a:ext cx="3602736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84832"/>
            <a:ext cx="603504" cy="338328"/>
          </a:xfrm>
          <a:prstGeom prst="roundRect">
            <a:avLst>
              <a:gd name="adj" fmla="val 37838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84832"/>
            <a:ext cx="60350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04672" y="2651760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4672" y="3218688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候选从哪里来？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" y="3840480"/>
            <a:ext cx="3145536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78224"/>
            <a:ext cx="3090672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是什么｜为什么预测 Feature｜Token 右移一位｜连续生成 + 验证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62272" y="1874520"/>
            <a:ext cx="3602736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084832"/>
            <a:ext cx="603504" cy="338328"/>
          </a:xfrm>
          <a:prstGeom prst="roundRect">
            <a:avLst>
              <a:gd name="adj" fmla="val 37838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84832"/>
            <a:ext cx="60350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663440" y="2651760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3440" y="3218688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候选怎么选？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63440" y="3840480"/>
            <a:ext cx="3145536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078224"/>
            <a:ext cx="3090672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固定树的问题｜路径 Value｜Expansion｜Reranking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1874520"/>
            <a:ext cx="3602736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084832"/>
            <a:ext cx="603504" cy="338328"/>
          </a:xfrm>
          <a:prstGeom prst="roundRect">
            <a:avLst>
              <a:gd name="adj" fmla="val 37838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2084832"/>
            <a:ext cx="60350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522208" y="2651760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522208" y="3218688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预测能力怎么增强？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522208" y="3840480"/>
            <a:ext cx="3145536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22208" y="4078224"/>
            <a:ext cx="3090672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取消 Feature Loss｜Training-Time Test｜多层 Feature Fusion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5596128"/>
            <a:ext cx="10872216" cy="475488"/>
          </a:xfrm>
          <a:prstGeom prst="roundRect">
            <a:avLst>
              <a:gd name="adj" fmla="val 26923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66013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贯穿问题：一次 Target Forward，怎样获得尽可能多的“通过验证”的 Token？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瓶颈：传统解码每轮 Target Forward 通常只产生一个 Token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推测解码的收益并非“猜得越多越好”，而是每次验证能接受多少有效 Token。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§1 / 上传的EAGLE笔记 §01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1975104" cy="365760"/>
          </a:xfrm>
          <a:prstGeom prst="roundRect">
            <a:avLst>
              <a:gd name="adj" fmla="val 35000"/>
            </a:avLst>
          </a:prstGeom>
          <a:solidFill>
            <a:srgbClr val="F0F4FA"/>
          </a:solidFill>
          <a:ln w="10160">
            <a:solidFill>
              <a:srgbClr val="F0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74520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标准自回归解码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31520" y="2368296"/>
            <a:ext cx="1792224" cy="621792"/>
          </a:xfrm>
          <a:prstGeom prst="roundRect">
            <a:avLst>
              <a:gd name="adj" fmla="val 23529"/>
            </a:avLst>
          </a:prstGeom>
          <a:solidFill>
            <a:srgbClr val="FFEDEF"/>
          </a:solidFill>
          <a:ln w="10160">
            <a:solidFill>
              <a:srgbClr val="E8BE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23160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Forward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78608" y="2679192"/>
            <a:ext cx="640080" cy="0"/>
          </a:xfrm>
          <a:prstGeom prst="line">
            <a:avLst/>
          </a:prstGeom>
          <a:noFill/>
          <a:ln w="19050">
            <a:solidFill>
              <a:srgbClr val="C5525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51760" y="2953512"/>
            <a:ext cx="77724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9535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3438144" y="2368296"/>
            <a:ext cx="1792224" cy="621792"/>
          </a:xfrm>
          <a:prstGeom prst="roundRect">
            <a:avLst>
              <a:gd name="adj" fmla="val 23529"/>
            </a:avLst>
          </a:prstGeom>
          <a:solidFill>
            <a:srgbClr val="FFEDEF"/>
          </a:solidFill>
          <a:ln w="10160">
            <a:solidFill>
              <a:srgbClr val="E8BE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423160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Forward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85232" y="2679192"/>
            <a:ext cx="640080" cy="0"/>
          </a:xfrm>
          <a:prstGeom prst="line">
            <a:avLst/>
          </a:prstGeom>
          <a:noFill/>
          <a:ln w="19050">
            <a:solidFill>
              <a:srgbClr val="C5525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58384" y="2953512"/>
            <a:ext cx="77724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9535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like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144768" y="2368296"/>
            <a:ext cx="1792224" cy="621792"/>
          </a:xfrm>
          <a:prstGeom prst="roundRect">
            <a:avLst>
              <a:gd name="adj" fmla="val 23529"/>
            </a:avLst>
          </a:prstGeom>
          <a:solidFill>
            <a:srgbClr val="FFEDEF"/>
          </a:solidFill>
          <a:ln w="10160">
            <a:solidFill>
              <a:srgbClr val="E8BE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423160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Forward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91856" y="2679192"/>
            <a:ext cx="640080" cy="0"/>
          </a:xfrm>
          <a:prstGeom prst="line">
            <a:avLst/>
          </a:prstGeom>
          <a:noFill/>
          <a:ln w="19050">
            <a:solidFill>
              <a:srgbClr val="C5525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65008" y="2953512"/>
            <a:ext cx="77724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9535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eating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8851392" y="2368296"/>
            <a:ext cx="1792224" cy="621792"/>
          </a:xfrm>
          <a:prstGeom prst="roundRect">
            <a:avLst>
              <a:gd name="adj" fmla="val 23529"/>
            </a:avLst>
          </a:prstGeom>
          <a:solidFill>
            <a:srgbClr val="FFEDEF"/>
          </a:solidFill>
          <a:ln w="10160">
            <a:solidFill>
              <a:srgbClr val="E8BE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2832" y="2423160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Forward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698480" y="2679192"/>
            <a:ext cx="640080" cy="0"/>
          </a:xfrm>
          <a:prstGeom prst="line">
            <a:avLst/>
          </a:prstGeom>
          <a:noFill/>
          <a:ln w="19050">
            <a:solidFill>
              <a:srgbClr val="C5525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771632" y="2953512"/>
            <a:ext cx="77724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71632" y="29535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pizza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704088" y="3593592"/>
            <a:ext cx="1074420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" y="3858768"/>
            <a:ext cx="1289304" cy="365760"/>
          </a:xfrm>
          <a:prstGeom prst="roundRect">
            <a:avLst>
              <a:gd name="adj" fmla="val 35000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3858768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推测解码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713232" y="4407408"/>
            <a:ext cx="2779776" cy="822960"/>
          </a:xfrm>
          <a:prstGeom prst="roundRect">
            <a:avLst>
              <a:gd name="adj" fmla="val 17778"/>
            </a:avLst>
          </a:prstGeom>
          <a:solidFill>
            <a:srgbClr val="E5F7F3"/>
          </a:solidFill>
          <a:ln w="10160">
            <a:solidFill>
              <a:srgbClr val="C9EA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462272"/>
            <a:ext cx="2596896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 Draft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提出若干候选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566160" y="4800600"/>
            <a:ext cx="685800" cy="0"/>
          </a:xfrm>
          <a:prstGeom prst="line">
            <a:avLst/>
          </a:prstGeom>
          <a:noFill/>
          <a:ln w="2159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79976" y="4407408"/>
            <a:ext cx="2761488" cy="822960"/>
          </a:xfrm>
          <a:prstGeom prst="roundRect">
            <a:avLst>
              <a:gd name="adj" fmla="val 17778"/>
            </a:avLst>
          </a:prstGeom>
          <a:solidFill>
            <a:srgbClr val="EAF0FF"/>
          </a:solidFill>
          <a:ln w="10160">
            <a:solidFill>
              <a:srgbClr val="CCD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71416" y="4462272"/>
            <a:ext cx="257860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并行验证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251192" y="4800600"/>
            <a:ext cx="685800" cy="0"/>
          </a:xfrm>
          <a:prstGeom prst="line">
            <a:avLst/>
          </a:prstGeom>
          <a:noFill/>
          <a:ln w="2159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19288" y="4407408"/>
            <a:ext cx="33832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4462272"/>
            <a:ext cx="32004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一次接受多个 Token</a:t>
            </a:r>
            <a:endParaRPr lang="en-US" sz="1440" dirty="0"/>
          </a:p>
          <a:p>
            <a:pPr marL="0" indent="0" algn="ctr">
              <a:buNone/>
            </a:pPr>
            <a:r>
              <a:rPr lang="en-US" sz="144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（取决于验证结果）</a:t>
            </a:r>
            <a:endParaRPr lang="en-US" sz="1440" dirty="0"/>
          </a:p>
        </p:txBody>
      </p:sp>
      <p:sp>
        <p:nvSpPr>
          <p:cNvPr id="42" name="Text 40"/>
          <p:cNvSpPr/>
          <p:nvPr/>
        </p:nvSpPr>
        <p:spPr>
          <a:xfrm>
            <a:off x="822960" y="5632704"/>
            <a:ext cx="1078992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关键指标：平均接受长度 τ / 实际墙钟加速比；候选 Token 并非全部自动被接受。</a:t>
            </a:r>
            <a:endParaRPr lang="en-US" sz="13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动机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EAGLE 不直接用一个小语言模型预测 Token？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核心想法：目标模型已有的信息可以复用，小 Drafter 不一定要重新“读懂”整个上下文。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Abstract / §2–3; 上传EAGLE笔记 §01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856232"/>
            <a:ext cx="5248656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56232"/>
            <a:ext cx="50292" cy="3246120"/>
          </a:xfrm>
          <a:prstGeom prst="roundRect">
            <a:avLst>
              <a:gd name="adj" fmla="val 254545"/>
            </a:avLst>
          </a:prstGeom>
          <a:solidFill>
            <a:srgbClr val="C55258"/>
          </a:solidFill>
          <a:ln w="10160">
            <a:solidFill>
              <a:srgbClr val="C55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02536"/>
            <a:ext cx="488289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传统小模型 Draft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864608" cy="2642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Token 前缀 → 用一套独立的小语言模型逐步预测 Token。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矛盾：模型越小，草稿质量可能不足；模型越大，预测成本又会上升。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6291072" y="1856232"/>
            <a:ext cx="521208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856232"/>
            <a:ext cx="50292" cy="3246120"/>
          </a:xfrm>
          <a:prstGeom prst="roundRect">
            <a:avLst>
              <a:gd name="adj" fmla="val 25454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00253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的观察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2331720"/>
            <a:ext cx="4828032" cy="2642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计算上下文时，已经产生高层 Feature。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 Drafter 直接利用这些 Feature，再预测下一位置 Feature，最后复用 Target LM Head 得到 Token。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694944" y="5358384"/>
            <a:ext cx="10789920" cy="658368"/>
          </a:xfrm>
          <a:prstGeom prst="roundRect">
            <a:avLst>
              <a:gd name="adj" fmla="val 19444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431536"/>
            <a:ext cx="1033272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论文经验观察：对轻量 Draft 模型，Feature 级自回归更容易建模；这是方法动机，不是对所有模型的数学定理。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基础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在哪里？它怎样变成下一个 Token？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先认清时间下标：f_t 是位置 t 的 Feature，用来预测 x_(t+1)。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§3.1 / 上传EAGLE笔记 §02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1746504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203704"/>
            <a:ext cx="1563624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已有上下文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“I like”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51176" y="2679192"/>
            <a:ext cx="539496" cy="0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2148840"/>
            <a:ext cx="2121408" cy="1078992"/>
          </a:xfrm>
          <a:prstGeom prst="roundRect">
            <a:avLst>
              <a:gd name="adj" fmla="val 13559"/>
            </a:avLst>
          </a:prstGeom>
          <a:solidFill>
            <a:srgbClr val="EAF0FF"/>
          </a:solidFill>
          <a:ln w="10160">
            <a:solidFill>
              <a:srgbClr val="A9C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203704"/>
            <a:ext cx="1938528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40680" y="2679192"/>
            <a:ext cx="557784" cy="0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148840"/>
            <a:ext cx="1773936" cy="1078992"/>
          </a:xfrm>
          <a:prstGeom prst="roundRect">
            <a:avLst>
              <a:gd name="adj" fmla="val 13559"/>
            </a:avLst>
          </a:prstGeom>
          <a:solidFill>
            <a:srgbClr val="EAF0FF"/>
          </a:solidFill>
          <a:ln w="10160">
            <a:solidFill>
              <a:srgbClr val="A9C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203704"/>
            <a:ext cx="1591056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Feature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10144" y="2679192"/>
            <a:ext cx="512064" cy="0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59368" y="214884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0808" y="2203704"/>
            <a:ext cx="1810512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LM Head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Softmax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656064" y="3273552"/>
            <a:ext cx="0" cy="521208"/>
          </a:xfrm>
          <a:prstGeom prst="line">
            <a:avLst/>
          </a:prstGeom>
          <a:noFill/>
          <a:ln w="2540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09560" y="3950208"/>
            <a:ext cx="3456432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005072"/>
            <a:ext cx="3273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下一个 Token 概率分布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p(x_(t+1) | x_1:t)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37776" y="4773168"/>
            <a:ext cx="0" cy="438912"/>
          </a:xfrm>
          <a:prstGeom prst="line">
            <a:avLst/>
          </a:prstGeom>
          <a:noFill/>
          <a:ln w="2540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90104" y="5349240"/>
            <a:ext cx="3895344" cy="512064"/>
          </a:xfrm>
          <a:prstGeom prst="roundRect">
            <a:avLst>
              <a:gd name="adj" fmla="val 28571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81544" y="5404104"/>
            <a:ext cx="371246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采样得到  x_(t+1) = “eating”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986784"/>
            <a:ext cx="6272784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233672"/>
            <a:ext cx="56692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注意：Feature 不是 Token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718304"/>
            <a:ext cx="55321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是连续向量；LM Head 把向量映射到词表 logits，然后 Softmax 才得到 Token 的概率分布。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关键疑问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为什么仅凭同一个 f_t，没法唯一决定下一位置的 Feature？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 f_t 给出的是一个概率分布；不同采样结果会把序列带向不同的后续状态。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§3.1 / 上传EAGLE笔记 §03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773936"/>
            <a:ext cx="3401568" cy="722376"/>
          </a:xfrm>
          <a:prstGeom prst="roundRect">
            <a:avLst>
              <a:gd name="adj" fmla="val 20253"/>
            </a:avLst>
          </a:prstGeom>
          <a:solidFill>
            <a:srgbClr val="EAF0FF"/>
          </a:solidFill>
          <a:ln w="10160">
            <a:solidFill>
              <a:srgbClr val="ADC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3218688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当前上下文："I"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 f_t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53328" y="2532888"/>
            <a:ext cx="0" cy="320040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78808" y="2971800"/>
            <a:ext cx="3776472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3026664"/>
            <a:ext cx="3593592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LM Head → p(x_(t+1))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10080000">
            <a:off x="2432304" y="3657600"/>
            <a:ext cx="3630168" cy="393192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7552" y="4160520"/>
            <a:ext cx="2944368" cy="731520"/>
          </a:xfrm>
          <a:prstGeom prst="roundRect">
            <a:avLst>
              <a:gd name="adj" fmla="val 20000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215384"/>
            <a:ext cx="27614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 “am”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 0.60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59736" y="4946904"/>
            <a:ext cx="0" cy="329184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7552" y="5385816"/>
            <a:ext cx="29443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440680"/>
            <a:ext cx="2761488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下一真实 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f_(t+1)^{am}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62472" y="3657600"/>
            <a:ext cx="210312" cy="393192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28032" y="4160520"/>
            <a:ext cx="29443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4215384"/>
            <a:ext cx="27614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 “like”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 0.25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0216" y="4946904"/>
            <a:ext cx="0" cy="329184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28032" y="5385816"/>
            <a:ext cx="29443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5440680"/>
            <a:ext cx="2761488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下一真实 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f_(t+1)^{like}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62472" y="3657600"/>
            <a:ext cx="4050792" cy="393192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68512" y="4160520"/>
            <a:ext cx="29443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9952" y="4215384"/>
            <a:ext cx="27614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 “always”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 0.15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40696" y="4946904"/>
            <a:ext cx="0" cy="329184"/>
          </a:xfrm>
          <a:prstGeom prst="line">
            <a:avLst/>
          </a:prstGeom>
          <a:noFill/>
          <a:ln w="1905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68512" y="5385816"/>
            <a:ext cx="29443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5440680"/>
            <a:ext cx="2761488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下一真实 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f_(t+1)^{always}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核心答案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的解决办法：输入“右移一位”的已选 Token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先确定 x_(t+1) 走了哪条分支，再让 Draft 预测对应位置的下一 Feature。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§3.1 / 上传EAGLE笔记 §03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2011680" cy="9144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0160">
            <a:solidFill>
              <a:srgbClr val="AF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03704"/>
            <a:ext cx="1828800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已有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13232" y="3822192"/>
            <a:ext cx="2231136" cy="896112"/>
          </a:xfrm>
          <a:prstGeom prst="roundRect">
            <a:avLst>
              <a:gd name="adj" fmla="val 16327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877056"/>
            <a:ext cx="2048256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p_(t+1) 采样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x_(t+1)=“eating”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26080" y="2596896"/>
            <a:ext cx="941832" cy="557784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rot="16200000">
            <a:off x="3108960" y="3364992"/>
            <a:ext cx="758952" cy="841248"/>
          </a:xfrm>
          <a:prstGeom prst="line">
            <a:avLst/>
          </a:prstGeom>
          <a:noFill/>
          <a:ln w="2540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86784" y="2816352"/>
            <a:ext cx="2843784" cy="96926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2871216"/>
            <a:ext cx="2660904" cy="8595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 Draft Head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D(f_t, x_(t+1))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940296" y="3291840"/>
            <a:ext cx="694944" cy="0"/>
          </a:xfrm>
          <a:prstGeom prst="line">
            <a:avLst/>
          </a:prstGeom>
          <a:noFill/>
          <a:ln w="2540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2807208"/>
            <a:ext cx="1993392" cy="987552"/>
          </a:xfrm>
          <a:prstGeom prst="roundRect">
            <a:avLst>
              <a:gd name="adj" fmla="val 14815"/>
            </a:avLst>
          </a:prstGeom>
          <a:solidFill>
            <a:srgbClr val="FFF2D9"/>
          </a:solidFill>
          <a:ln w="10160">
            <a:solidFill>
              <a:srgbClr val="F1D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862072"/>
            <a:ext cx="1810512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预测下一 Feature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f̂_(t+1)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11512" y="3291840"/>
            <a:ext cx="384048" cy="0"/>
          </a:xfrm>
          <a:prstGeom prst="line">
            <a:avLst/>
          </a:prstGeom>
          <a:noFill/>
          <a:ln w="25400">
            <a:solidFill>
              <a:srgbClr val="0C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77856" y="2816352"/>
            <a:ext cx="1335024" cy="969264"/>
          </a:xfrm>
          <a:prstGeom prst="roundRect">
            <a:avLst>
              <a:gd name="adj" fmla="val 15094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9296" y="2871216"/>
            <a:ext cx="1152144" cy="8595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LM Head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 x_(t+2)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1161288" y="5084064"/>
            <a:ext cx="9866376" cy="786384"/>
          </a:xfrm>
          <a:prstGeom prst="roundRect">
            <a:avLst>
              <a:gd name="adj" fmla="val 16279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5024" y="5230368"/>
            <a:ext cx="958291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局部简写：f̂_(t+1) = D(f_t, x_(t+1))。真实模型还会使用历史 Feature 序列与 shifted Token 序列。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完整流程 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Draft：从 “I like” 到候选 “eating pizza”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 f_t、已采样 Token、预测 Feature 三类量分别来自哪里。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§3.1 / 上传EAGLE笔记 §04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2121408"/>
            <a:ext cx="18745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176272"/>
            <a:ext cx="1691640" cy="1033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已处理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“I like”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2532888" y="2688336"/>
            <a:ext cx="192024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2121408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AF0FF"/>
          </a:solidFill>
          <a:ln w="10160">
            <a:solidFill>
              <a:srgbClr val="BDD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176272"/>
            <a:ext cx="1737360" cy="1033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f_t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LM Head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4736592" y="2688336"/>
            <a:ext cx="283464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84064" y="2121408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2176272"/>
            <a:ext cx="1737360" cy="1033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选定 x_(t+1)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“eating”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040880" y="2688336"/>
            <a:ext cx="210312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121408"/>
            <a:ext cx="2011680" cy="1143000"/>
          </a:xfrm>
          <a:prstGeom prst="roundRect">
            <a:avLst>
              <a:gd name="adj" fmla="val 12800"/>
            </a:avLst>
          </a:prstGeom>
          <a:solidFill>
            <a:srgbClr val="FFF2D9"/>
          </a:solidFill>
          <a:ln w="10160">
            <a:solidFill>
              <a:srgbClr val="F1D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176272"/>
            <a:ext cx="1828800" cy="1033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Draft(f_t, eating)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 f̂_(t+1)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9363456" y="2688336"/>
            <a:ext cx="146304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73768" y="2121408"/>
            <a:ext cx="1938528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208" y="2176272"/>
            <a:ext cx="1755648" cy="1033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 LM Head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 “pizza”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30936" y="3474720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0F4FA"/>
          </a:solidFill>
          <a:ln w="10160">
            <a:solidFill>
              <a:srgbClr val="F0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474720"/>
            <a:ext cx="1005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30936" y="392277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Target 输出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2788920" y="3474720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3474720"/>
            <a:ext cx="1005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2788920" y="392277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f_t 已存在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5084064" y="3474720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474720"/>
            <a:ext cx="1005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5084064" y="392277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不是预测未来的 oracle</a:t>
            </a:r>
            <a:endParaRPr lang="en-US" sz="1330" dirty="0"/>
          </a:p>
        </p:txBody>
      </p:sp>
      <p:sp>
        <p:nvSpPr>
          <p:cNvPr id="32" name="Shape 30"/>
          <p:cNvSpPr/>
          <p:nvPr/>
        </p:nvSpPr>
        <p:spPr>
          <a:xfrm>
            <a:off x="7315200" y="3474720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474720"/>
            <a:ext cx="1005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7315200" y="392277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草稿网络输出 f̂</a:t>
            </a:r>
            <a:endParaRPr lang="en-US" sz="1330" dirty="0"/>
          </a:p>
        </p:txBody>
      </p:sp>
      <p:sp>
        <p:nvSpPr>
          <p:cNvPr id="35" name="Shape 33"/>
          <p:cNvSpPr/>
          <p:nvPr/>
        </p:nvSpPr>
        <p:spPr>
          <a:xfrm>
            <a:off x="9573768" y="3474720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0F4FA"/>
          </a:solidFill>
          <a:ln w="10160">
            <a:solidFill>
              <a:srgbClr val="F0F4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73768" y="3474720"/>
            <a:ext cx="10058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9573768" y="392277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还没有经过 Target 验证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941832" y="4992624"/>
            <a:ext cx="10268712" cy="813816"/>
          </a:xfrm>
          <a:prstGeom prst="roundRect">
            <a:avLst>
              <a:gd name="adj" fmla="val 15730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52144" y="5184648"/>
            <a:ext cx="984808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下标必须记住：f_t 预测 x_(t+1)，而 f̂_(t+1) 预测 x_(t+2)。</a:t>
            </a:r>
            <a:endParaRPr lang="en-US" sz="1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完整流程 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如何用自己的 Feature 连续预测？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关键：从第 2 次 Draft 起，上一轮的 f̂ 就代替尚未计算出来的真实 Feature。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§3.1 / 上传EAGLE笔记 §04、§07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" y="1783080"/>
            <a:ext cx="3886200" cy="384048"/>
          </a:xfrm>
          <a:prstGeom prst="roundRect">
            <a:avLst>
              <a:gd name="adj" fmla="val 33333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8308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已有：f_t，已选 Token：eating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49808" y="2414016"/>
            <a:ext cx="318211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587752"/>
            <a:ext cx="1417320" cy="338328"/>
          </a:xfrm>
          <a:prstGeom prst="roundRect">
            <a:avLst>
              <a:gd name="adj" fmla="val 37838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587752"/>
            <a:ext cx="141732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次 Draft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14400" y="3072384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输入：真实 f_t + eating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3712464"/>
            <a:ext cx="2752344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49624"/>
            <a:ext cx="28712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输出：f̂_(t+1) → pizza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3968496" y="3438144"/>
            <a:ext cx="411480" cy="0"/>
          </a:xfrm>
          <a:prstGeom prst="line">
            <a:avLst/>
          </a:prstGeom>
          <a:noFill/>
          <a:ln w="2159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98848" y="2414016"/>
            <a:ext cx="318211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2587752"/>
            <a:ext cx="1417320" cy="338328"/>
          </a:xfrm>
          <a:prstGeom prst="roundRect">
            <a:avLst>
              <a:gd name="adj" fmla="val 37838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587752"/>
            <a:ext cx="141732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次 Draft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4663440" y="3072384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输入：预测 f̂_(t+1) + pizza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81728" y="3712464"/>
            <a:ext cx="2752344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849624"/>
            <a:ext cx="28712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输出：f̂_(t+2) → today</a:t>
            </a:r>
            <a:endParaRPr lang="en-US" sz="1430" dirty="0"/>
          </a:p>
        </p:txBody>
      </p:sp>
      <p:sp>
        <p:nvSpPr>
          <p:cNvPr id="24" name="Shape 22"/>
          <p:cNvSpPr/>
          <p:nvPr/>
        </p:nvSpPr>
        <p:spPr>
          <a:xfrm>
            <a:off x="7717536" y="3438144"/>
            <a:ext cx="411480" cy="0"/>
          </a:xfrm>
          <a:prstGeom prst="line">
            <a:avLst/>
          </a:prstGeom>
          <a:noFill/>
          <a:ln w="2159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47888" y="2414016"/>
            <a:ext cx="318211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03336" y="2587752"/>
            <a:ext cx="1417320" cy="338328"/>
          </a:xfrm>
          <a:prstGeom prst="roundRect">
            <a:avLst>
              <a:gd name="adj" fmla="val 37838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03336" y="2587752"/>
            <a:ext cx="141732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 次 Draft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8412480" y="3072384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输入：预测 f̂_(t+2) + today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30768" y="3712464"/>
            <a:ext cx="2752344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849624"/>
            <a:ext cx="28712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输出：f̂_(t+3) → …</a:t>
            </a:r>
            <a:endParaRPr lang="en-US" sz="1430" dirty="0"/>
          </a:p>
        </p:txBody>
      </p:sp>
      <p:sp>
        <p:nvSpPr>
          <p:cNvPr id="31" name="Shape 29"/>
          <p:cNvSpPr/>
          <p:nvPr/>
        </p:nvSpPr>
        <p:spPr>
          <a:xfrm>
            <a:off x="1911096" y="4910328"/>
            <a:ext cx="8421624" cy="640080"/>
          </a:xfrm>
          <a:prstGeom prst="roundRect">
            <a:avLst>
              <a:gd name="adj" fmla="val 22857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02536" y="4965192"/>
            <a:ext cx="823874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最终形成候选链： eating → pizza → today → …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874520" y="5660136"/>
            <a:ext cx="8449056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这些是 Draft 提出的候选，并不代表已经被 Target 接受。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训练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训练时怎样监督 f̂？两种 Loss 分工不同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Feature 来自固定 Target；Draft 预测 Feature，再从两个层面接受监督。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§3.2 / 上传EAGLE笔记 §06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39696"/>
            <a:ext cx="2880360" cy="795528"/>
          </a:xfrm>
          <a:prstGeom prst="roundRect">
            <a:avLst>
              <a:gd name="adj" fmla="val 18391"/>
            </a:avLst>
          </a:prstGeom>
          <a:solidFill>
            <a:srgbClr val="EAF0FF"/>
          </a:solidFill>
          <a:ln w="10160">
            <a:solidFill>
              <a:srgbClr val="AF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真实 Feature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f_(t+1)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2880360" cy="795528"/>
          </a:xfrm>
          <a:prstGeom prst="roundRect">
            <a:avLst>
              <a:gd name="adj" fmla="val 18391"/>
            </a:avLst>
          </a:prstGeom>
          <a:solidFill>
            <a:srgbClr val="FFF2D9"/>
          </a:solidFill>
          <a:ln w="10160">
            <a:solidFill>
              <a:srgbClr val="F1D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03904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预测 Feature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f̂_(t+1)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03320" y="2532888"/>
            <a:ext cx="1005840" cy="576072"/>
          </a:xfrm>
          <a:prstGeom prst="line">
            <a:avLst/>
          </a:prstGeom>
          <a:noFill/>
          <a:ln w="2286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rot="17940000">
            <a:off x="3703320" y="3429000"/>
            <a:ext cx="1005840" cy="704088"/>
          </a:xfrm>
          <a:prstGeom prst="line">
            <a:avLst/>
          </a:prstGeom>
          <a:noFill/>
          <a:ln w="22860">
            <a:solidFill>
              <a:srgbClr val="D88D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18888" y="2907792"/>
            <a:ext cx="265176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962656"/>
            <a:ext cx="246888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Loss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Smooth L1(f, f̂)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52944" y="3346704"/>
            <a:ext cx="676656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57616" y="2907792"/>
            <a:ext cx="3035808" cy="877824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0160">
            <a:solidFill>
              <a:srgbClr val="B6C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962656"/>
            <a:ext cx="2852928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强调：内部表示也要接近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764792" y="3017520"/>
            <a:ext cx="0" cy="420624"/>
          </a:xfrm>
          <a:prstGeom prst="line">
            <a:avLst/>
          </a:prstGeom>
          <a:noFill/>
          <a:ln w="13970">
            <a:solidFill>
              <a:srgbClr val="0C948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58952" y="4956048"/>
            <a:ext cx="10661904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5084064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Loss：真实 f 与预测 f̂ 分别过共享 LM Head → 对齐两组 Token 概率分布（分布监督）。</a:t>
            </a:r>
            <a:endParaRPr lang="en-US" sz="1570" dirty="0"/>
          </a:p>
        </p:txBody>
      </p:sp>
      <p:sp>
        <p:nvSpPr>
          <p:cNvPr id="23" name="Text 21"/>
          <p:cNvSpPr/>
          <p:nvPr/>
        </p:nvSpPr>
        <p:spPr>
          <a:xfrm>
            <a:off x="1005840" y="550468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4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训练目标：L_total = L_feature + 0.1 × L_token</a:t>
            </a:r>
            <a:endParaRPr lang="en-US" sz="1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8346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7E8"/>
                </a:solidFill>
                <a:latin typeface="Noto Sans CJK SC"/>
              </a:rPr>
              <a:t>EAGLE-1 · TOKEN LOSS 补充例子</a:t>
            </a:r>
            <a:endParaRPr sz="105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30936"/>
            <a:ext cx="111922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13A"/>
                </a:solidFill>
                <a:latin typeface="Noto Sans CJK SC"/>
              </a:rPr>
              <a:t>Token Loss 到底在比较什么？用“pizza”举例</a:t>
            </a:r>
            <a:endParaRPr sz="260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093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62728A"/>
                </a:solidFill>
                <a:latin typeface="Noto Sans CJK SC"/>
              </a:rPr>
              <a:t>它对齐的是“下一个 Token 的概率分布”，而不是单纯判断一个猜测 Token 对不对。</a:t>
            </a:r>
            <a:endParaRPr sz="1325" b="0">
              <a:solidFill>
                <a:srgbClr val="62728A"/>
              </a:solidFill>
              <a:latin typeface="Noto Sans CJK SC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391656"/>
            <a:ext cx="11082528" cy="0"/>
          </a:xfrm>
          <a:prstGeom prst="line">
            <a:avLst/>
          </a:prstGeom>
          <a:ln w="10795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10058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28A"/>
                </a:solidFill>
                <a:latin typeface="Noto Sans CJK SC"/>
              </a:rPr>
              <a:t>EAGLE (ICML 2024) §3.2 · 概率为教学示意，不是论文实测</a:t>
            </a:r>
            <a:endParaRPr sz="90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69880" y="6464808"/>
            <a:ext cx="11247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2728A"/>
                </a:solidFill>
                <a:latin typeface="Noto Sans CJK SC"/>
              </a:rPr>
              <a:t>接第 10 页</a:t>
            </a:r>
            <a:endParaRPr sz="96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856231"/>
            <a:ext cx="3456432" cy="26883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065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011680"/>
            <a:ext cx="3200400" cy="429768"/>
          </a:xfrm>
          <a:prstGeom prst="roundRect">
            <a:avLst>
              <a:gd name="adj" fmla="val 13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48256"/>
            <a:ext cx="31363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67E8"/>
                </a:solidFill>
                <a:latin typeface="Noto Sans CJK SC"/>
              </a:rPr>
              <a:t>TARGET · 监督分布 p</a:t>
            </a:r>
            <a:endParaRPr sz="140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" y="251460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2728A"/>
                </a:solidFill>
                <a:latin typeface="Noto Sans CJK SC"/>
              </a:rPr>
              <a:t>真实 f → 共享 LM Head</a:t>
            </a:r>
            <a:endParaRPr sz="118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29077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pizza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55648" y="29397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55648" y="2939796"/>
            <a:ext cx="1145743" cy="146304"/>
          </a:xfrm>
          <a:prstGeom prst="rect">
            <a:avLst/>
          </a:prstGeom>
          <a:solidFill>
            <a:srgbClr val="2F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9077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F67E8"/>
                </a:solidFill>
                <a:latin typeface="Noto Sans CJK SC"/>
              </a:rPr>
              <a:t>70%</a:t>
            </a:r>
            <a:endParaRPr sz="131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33649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soup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55648" y="33969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55648" y="3396996"/>
            <a:ext cx="327355" cy="146304"/>
          </a:xfrm>
          <a:prstGeom prst="rect">
            <a:avLst/>
          </a:prstGeom>
          <a:solidFill>
            <a:srgbClr val="2F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3649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F67E8"/>
                </a:solidFill>
                <a:latin typeface="Noto Sans CJK SC"/>
              </a:rPr>
              <a:t>20%</a:t>
            </a:r>
            <a:endParaRPr sz="131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3822191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rice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55648" y="38541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55648" y="3854196"/>
            <a:ext cx="163677" cy="146304"/>
          </a:xfrm>
          <a:prstGeom prst="rect">
            <a:avLst/>
          </a:prstGeom>
          <a:solidFill>
            <a:srgbClr val="2F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822191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F67E8"/>
                </a:solidFill>
                <a:latin typeface="Noto Sans CJK SC"/>
              </a:rPr>
              <a:t>10%</a:t>
            </a:r>
            <a:endParaRPr sz="131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70832" y="1856231"/>
            <a:ext cx="3456432" cy="26883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065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98848" y="2011680"/>
            <a:ext cx="3200400" cy="429768"/>
          </a:xfrm>
          <a:prstGeom prst="roundRect">
            <a:avLst>
              <a:gd name="adj" fmla="val 13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048256"/>
            <a:ext cx="31363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8D2B"/>
                </a:solidFill>
                <a:latin typeface="Noto Sans CJK SC"/>
              </a:rPr>
              <a:t>DRAFT · 训练前 q</a:t>
            </a:r>
            <a:endParaRPr sz="140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5424" y="251460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2728A"/>
                </a:solidFill>
                <a:latin typeface="Noto Sans CJK SC"/>
              </a:rPr>
              <a:t>预测 f̂ → 共享 LM Head</a:t>
            </a:r>
            <a:endParaRPr sz="118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44568" y="29077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pizza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13248" y="29397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13248" y="2939796"/>
            <a:ext cx="491032" cy="146304"/>
          </a:xfrm>
          <a:prstGeom prst="rect">
            <a:avLst/>
          </a:prstGeom>
          <a:solidFill>
            <a:srgbClr val="D88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9077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D88D2B"/>
                </a:solidFill>
                <a:latin typeface="Noto Sans CJK SC"/>
              </a:rPr>
              <a:t>30%</a:t>
            </a:r>
            <a:endParaRPr sz="131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44568" y="33649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soup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13248" y="33969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13248" y="3396996"/>
            <a:ext cx="654710" cy="146304"/>
          </a:xfrm>
          <a:prstGeom prst="rect">
            <a:avLst/>
          </a:prstGeom>
          <a:solidFill>
            <a:srgbClr val="D88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3649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D88D2B"/>
                </a:solidFill>
                <a:latin typeface="Noto Sans CJK SC"/>
              </a:rPr>
              <a:t>40%</a:t>
            </a:r>
            <a:endParaRPr sz="131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44568" y="3822191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rice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13248" y="38541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13248" y="3854196"/>
            <a:ext cx="491032" cy="146304"/>
          </a:xfrm>
          <a:prstGeom prst="rect">
            <a:avLst/>
          </a:prstGeom>
          <a:solidFill>
            <a:srgbClr val="D88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822191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D88D2B"/>
                </a:solidFill>
                <a:latin typeface="Noto Sans CJK SC"/>
              </a:rPr>
              <a:t>30%</a:t>
            </a:r>
            <a:endParaRPr sz="131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028431" y="1856231"/>
            <a:ext cx="3456432" cy="26883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065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56448" y="2011680"/>
            <a:ext cx="3200400" cy="429768"/>
          </a:xfrm>
          <a:prstGeom prst="roundRect">
            <a:avLst>
              <a:gd name="adj" fmla="val 13000"/>
            </a:avLst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3" y="2048256"/>
            <a:ext cx="31363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9488"/>
                </a:solidFill>
                <a:latin typeface="Noto Sans CJK SC"/>
              </a:rPr>
              <a:t>DRAFT · 训练后 q′</a:t>
            </a:r>
            <a:endParaRPr sz="1400" b="1">
              <a:solidFill>
                <a:srgbClr val="0C9488"/>
              </a:solidFill>
              <a:latin typeface="Noto Sans CJK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93023" y="251460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2728A"/>
                </a:solidFill>
                <a:latin typeface="Noto Sans CJK SC"/>
              </a:rPr>
              <a:t>同一 Draft 经 Token Loss 更新</a:t>
            </a:r>
            <a:endParaRPr sz="118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02167" y="29077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pizza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070847" y="29397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70847" y="2939796"/>
            <a:ext cx="1063904" cy="146304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19" y="29077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C9488"/>
                </a:solidFill>
                <a:latin typeface="Noto Sans CJK SC"/>
              </a:rPr>
              <a:t>65%</a:t>
            </a:r>
            <a:endParaRPr sz="1310" b="1">
              <a:solidFill>
                <a:srgbClr val="0C9488"/>
              </a:solidFill>
              <a:latin typeface="Noto Sans CJK SC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02167" y="3364992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soup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070847" y="33969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70847" y="3396996"/>
            <a:ext cx="409194" cy="146304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19" y="3364992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C9488"/>
                </a:solidFill>
                <a:latin typeface="Noto Sans CJK SC"/>
              </a:rPr>
              <a:t>25%</a:t>
            </a:r>
            <a:endParaRPr sz="1310" b="1">
              <a:solidFill>
                <a:srgbClr val="0C9488"/>
              </a:solidFill>
              <a:latin typeface="Noto Sans CJK S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202167" y="3822191"/>
            <a:ext cx="8595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192B45"/>
                </a:solidFill>
                <a:latin typeface="Noto Sans CJK SC"/>
              </a:rPr>
              <a:t>rice</a:t>
            </a:r>
            <a:endParaRPr sz="134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070847" y="3854196"/>
            <a:ext cx="1636776" cy="1463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0847" y="3854196"/>
            <a:ext cx="163677" cy="146304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19" y="3822191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C9488"/>
                </a:solidFill>
                <a:latin typeface="Noto Sans CJK SC"/>
              </a:rPr>
              <a:t>10%</a:t>
            </a:r>
            <a:endParaRPr sz="1310" b="1">
              <a:solidFill>
                <a:srgbClr val="0C9488"/>
              </a:solidFill>
              <a:latin typeface="Noto Sans CJK SC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13232" y="4773168"/>
            <a:ext cx="10780776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065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" y="4901184"/>
            <a:ext cx="96012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13213A"/>
                </a:solidFill>
                <a:latin typeface="Noto Sans CJK SC"/>
              </a:rPr>
              <a:t>L_token = CE(p, q) = − ∑ p(v) · log q(v)</a:t>
            </a:r>
            <a:endParaRPr sz="202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1832" y="5321808"/>
            <a:ext cx="99669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>
                <a:solidFill>
                  <a:srgbClr val="2F67E8"/>
                </a:solidFill>
                <a:latin typeface="Noto Sans CJK SC"/>
              </a:rPr>
              <a:t>本例：训练前 1.146  →  训练后 0.809 （交叉熵更低，分布更接近 Target）</a:t>
            </a:r>
            <a:endParaRPr sz="149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1832" y="5696712"/>
            <a:ext cx="1013155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92B45"/>
                </a:solidFill>
                <a:latin typeface="Noto Sans CJK SC"/>
              </a:rPr>
              <a:t>与 Feature Loss 不同：不直接逐维比较 f 和 f̂；梯度来自 LM Head 后的词表概率。</a:t>
            </a:r>
            <a:endParaRPr sz="1280" b="0">
              <a:solidFill>
                <a:srgbClr val="192B45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候选树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为什么不只生成一条链，而要生成候选树？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一条链在中途被拒绝后，后面的候选往往无法继续接受；分支可以覆盖多个可能续写。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§3.3 / 上传EAGLE笔记 §07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819656"/>
            <a:ext cx="5266944" cy="2020824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19656"/>
            <a:ext cx="50292" cy="2020824"/>
          </a:xfrm>
          <a:prstGeom prst="roundRect">
            <a:avLst>
              <a:gd name="adj" fmla="val 254545"/>
            </a:avLst>
          </a:prstGeom>
          <a:solidFill>
            <a:srgbClr val="C55258"/>
          </a:solidFill>
          <a:ln w="10160">
            <a:solidFill>
              <a:srgbClr val="C55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4901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552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只预测单链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4882896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→ am → happy → today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“am” 被拒绝，后续 “happy / today” 无法直接沿这条链继续接受。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6318504" y="1819656"/>
            <a:ext cx="5166360" cy="2020824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1819656"/>
            <a:ext cx="50292" cy="2020824"/>
          </a:xfrm>
          <a:prstGeom prst="roundRect">
            <a:avLst>
              <a:gd name="adj" fmla="val 25454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1965960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树状候选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83096" y="2295144"/>
            <a:ext cx="4782312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之后同时保留 “am” 和 “always”等分支；它们又能继续展开，减少单一路径预测错误的影响。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 rot="8700000">
            <a:off x="4828032" y="4443984"/>
            <a:ext cx="1664208" cy="530352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443984"/>
            <a:ext cx="1673352" cy="530352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7380000">
            <a:off x="3749040" y="5120640"/>
            <a:ext cx="1078992" cy="466344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5120640"/>
            <a:ext cx="1024128" cy="466344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5120640"/>
            <a:ext cx="9144" cy="466344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4279392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13213A"/>
          </a:solidFill>
          <a:ln w="10160">
            <a:solidFill>
              <a:srgbClr val="1321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4334256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4956048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5010912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26680" y="4956048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5010912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always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0128" y="5568696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562356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happy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13248" y="5568696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562356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17536" y="5568696"/>
            <a:ext cx="896112" cy="384048"/>
          </a:xfrm>
          <a:prstGeom prst="roundRect">
            <a:avLst>
              <a:gd name="adj" fmla="val 3809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08976" y="562356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33272" y="4261104"/>
            <a:ext cx="3227832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候选树（示意）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TREE ATTENTION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一棵树的 Token 怎样“拼成一行”还保持各分支独立？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先展平候选节点，再用 Tree Attention Mask：可看祖先 = 0；不可看兄弟分支 = −∞。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§3.3 / 上传EAGLE笔记 §07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1764792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展平后的 Token 序列（示意）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096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13213A"/>
          </a:solidFill>
          <a:ln w="10160">
            <a:solidFill>
              <a:srgbClr val="132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1938528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EAF0FF"/>
          </a:solidFill>
          <a:ln w="10160">
            <a:solidFill>
              <a:srgbClr val="B4C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3108960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EAF0FF"/>
          </a:solidFill>
          <a:ln w="10160">
            <a:solidFill>
              <a:srgbClr val="B4C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always</a:t>
            </a:r>
            <a:endParaRPr lang="en-US" sz="1470" dirty="0"/>
          </a:p>
        </p:txBody>
      </p:sp>
      <p:sp>
        <p:nvSpPr>
          <p:cNvPr id="16" name="Shape 14"/>
          <p:cNvSpPr/>
          <p:nvPr/>
        </p:nvSpPr>
        <p:spPr>
          <a:xfrm>
            <a:off x="4279392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E5F7F3"/>
          </a:solidFill>
          <a:ln w="10160">
            <a:solidFill>
              <a:srgbClr val="BC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happy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5449824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E5F7F3"/>
          </a:solidFill>
          <a:ln w="10160">
            <a:solidFill>
              <a:srgbClr val="BC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ready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6620256" y="2194560"/>
            <a:ext cx="1042416" cy="466344"/>
          </a:xfrm>
          <a:prstGeom prst="roundRect">
            <a:avLst>
              <a:gd name="adj" fmla="val 31373"/>
            </a:avLst>
          </a:prstGeom>
          <a:solidFill>
            <a:srgbClr val="E5F7F3"/>
          </a:solidFill>
          <a:ln w="10160">
            <a:solidFill>
              <a:srgbClr val="BC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2249424"/>
            <a:ext cx="85953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late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768096" y="2834640"/>
            <a:ext cx="9912096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节点父子关系：I→am、I→always；am→happy/ready；always→late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8952" y="331012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Attention Mask（行 = Query，列 = Key）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798064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3639312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4480560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always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5321808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happy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6163056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ready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7004304" y="3675888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late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896112" y="4069080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210" dirty="0"/>
          </a:p>
        </p:txBody>
      </p:sp>
      <p:sp>
        <p:nvSpPr>
          <p:cNvPr id="31" name="Shape 29"/>
          <p:cNvSpPr/>
          <p:nvPr/>
        </p:nvSpPr>
        <p:spPr>
          <a:xfrm>
            <a:off x="2798064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98064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3639312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480560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321808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6163056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7004304" y="406908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406908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896112" y="440740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2798064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98064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3639312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4480560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0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321808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6163056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63056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004304" y="4407408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04304" y="4407408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896112" y="4745736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always</a:t>
            </a:r>
            <a:endParaRPr lang="en-US" sz="1210" dirty="0"/>
          </a:p>
        </p:txBody>
      </p:sp>
      <p:sp>
        <p:nvSpPr>
          <p:cNvPr id="57" name="Shape 55"/>
          <p:cNvSpPr/>
          <p:nvPr/>
        </p:nvSpPr>
        <p:spPr>
          <a:xfrm>
            <a:off x="2798064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98064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3639312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39312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61" name="Shape 59"/>
          <p:cNvSpPr/>
          <p:nvPr/>
        </p:nvSpPr>
        <p:spPr>
          <a:xfrm>
            <a:off x="4480560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63" name="Shape 61"/>
          <p:cNvSpPr/>
          <p:nvPr/>
        </p:nvSpPr>
        <p:spPr>
          <a:xfrm>
            <a:off x="5321808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21808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6163056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63056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67" name="Shape 65"/>
          <p:cNvSpPr/>
          <p:nvPr/>
        </p:nvSpPr>
        <p:spPr>
          <a:xfrm>
            <a:off x="7004304" y="4745736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04304" y="4745736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69" name="Text 67"/>
          <p:cNvSpPr/>
          <p:nvPr/>
        </p:nvSpPr>
        <p:spPr>
          <a:xfrm>
            <a:off x="896112" y="5084064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happy</a:t>
            </a:r>
            <a:endParaRPr lang="en-US" sz="1210" dirty="0"/>
          </a:p>
        </p:txBody>
      </p:sp>
      <p:sp>
        <p:nvSpPr>
          <p:cNvPr id="70" name="Shape 68"/>
          <p:cNvSpPr/>
          <p:nvPr/>
        </p:nvSpPr>
        <p:spPr>
          <a:xfrm>
            <a:off x="2798064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98064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72" name="Shape 70"/>
          <p:cNvSpPr/>
          <p:nvPr/>
        </p:nvSpPr>
        <p:spPr>
          <a:xfrm>
            <a:off x="3639312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39312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74" name="Shape 72"/>
          <p:cNvSpPr/>
          <p:nvPr/>
        </p:nvSpPr>
        <p:spPr>
          <a:xfrm>
            <a:off x="4480560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76" name="Shape 74"/>
          <p:cNvSpPr/>
          <p:nvPr/>
        </p:nvSpPr>
        <p:spPr>
          <a:xfrm>
            <a:off x="5321808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21808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78" name="Shape 76"/>
          <p:cNvSpPr/>
          <p:nvPr/>
        </p:nvSpPr>
        <p:spPr>
          <a:xfrm>
            <a:off x="6163056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63056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80" name="Shape 78"/>
          <p:cNvSpPr/>
          <p:nvPr/>
        </p:nvSpPr>
        <p:spPr>
          <a:xfrm>
            <a:off x="7004304" y="5084064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04304" y="5084064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82" name="Text 80"/>
          <p:cNvSpPr/>
          <p:nvPr/>
        </p:nvSpPr>
        <p:spPr>
          <a:xfrm>
            <a:off x="896112" y="5422392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ready</a:t>
            </a:r>
            <a:endParaRPr lang="en-US" sz="1210" dirty="0"/>
          </a:p>
        </p:txBody>
      </p:sp>
      <p:sp>
        <p:nvSpPr>
          <p:cNvPr id="83" name="Shape 81"/>
          <p:cNvSpPr/>
          <p:nvPr/>
        </p:nvSpPr>
        <p:spPr>
          <a:xfrm>
            <a:off x="2798064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98064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85" name="Shape 83"/>
          <p:cNvSpPr/>
          <p:nvPr/>
        </p:nvSpPr>
        <p:spPr>
          <a:xfrm>
            <a:off x="3639312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39312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87" name="Shape 85"/>
          <p:cNvSpPr/>
          <p:nvPr/>
        </p:nvSpPr>
        <p:spPr>
          <a:xfrm>
            <a:off x="4480560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80560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89" name="Shape 87"/>
          <p:cNvSpPr/>
          <p:nvPr/>
        </p:nvSpPr>
        <p:spPr>
          <a:xfrm>
            <a:off x="5321808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21808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91" name="Shape 89"/>
          <p:cNvSpPr/>
          <p:nvPr/>
        </p:nvSpPr>
        <p:spPr>
          <a:xfrm>
            <a:off x="6163056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63056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93" name="Shape 91"/>
          <p:cNvSpPr/>
          <p:nvPr/>
        </p:nvSpPr>
        <p:spPr>
          <a:xfrm>
            <a:off x="7004304" y="5422392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04304" y="5422392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95" name="Text 93"/>
          <p:cNvSpPr/>
          <p:nvPr/>
        </p:nvSpPr>
        <p:spPr>
          <a:xfrm>
            <a:off x="896112" y="5760720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1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late</a:t>
            </a:r>
            <a:endParaRPr lang="en-US" sz="1210" dirty="0"/>
          </a:p>
        </p:txBody>
      </p:sp>
      <p:sp>
        <p:nvSpPr>
          <p:cNvPr id="96" name="Shape 94"/>
          <p:cNvSpPr/>
          <p:nvPr/>
        </p:nvSpPr>
        <p:spPr>
          <a:xfrm>
            <a:off x="2798064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98064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98" name="Shape 96"/>
          <p:cNvSpPr/>
          <p:nvPr/>
        </p:nvSpPr>
        <p:spPr>
          <a:xfrm>
            <a:off x="3639312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39312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100" name="Shape 98"/>
          <p:cNvSpPr/>
          <p:nvPr/>
        </p:nvSpPr>
        <p:spPr>
          <a:xfrm>
            <a:off x="4480560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80560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102" name="Shape 100"/>
          <p:cNvSpPr/>
          <p:nvPr/>
        </p:nvSpPr>
        <p:spPr>
          <a:xfrm>
            <a:off x="5321808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21808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104" name="Shape 102"/>
          <p:cNvSpPr/>
          <p:nvPr/>
        </p:nvSpPr>
        <p:spPr>
          <a:xfrm>
            <a:off x="6163056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63056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−∞</a:t>
            </a:r>
            <a:endParaRPr lang="en-US" sz="1220" dirty="0"/>
          </a:p>
        </p:txBody>
      </p:sp>
      <p:sp>
        <p:nvSpPr>
          <p:cNvPr id="106" name="Shape 104"/>
          <p:cNvSpPr/>
          <p:nvPr/>
        </p:nvSpPr>
        <p:spPr>
          <a:xfrm>
            <a:off x="7004304" y="5760720"/>
            <a:ext cx="790956" cy="315468"/>
          </a:xfrm>
          <a:prstGeom prst="roundRect">
            <a:avLst>
              <a:gd name="adj" fmla="val 8696"/>
            </a:avLst>
          </a:prstGeom>
          <a:solidFill>
            <a:srgbClr val="E5F7F3"/>
          </a:solidFill>
          <a:ln w="10160">
            <a:solidFill>
              <a:srgbClr val="BFE9D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04304" y="5760720"/>
            <a:ext cx="790956" cy="31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20" dirty="0"/>
          </a:p>
        </p:txBody>
      </p:sp>
      <p:sp>
        <p:nvSpPr>
          <p:cNvPr id="108" name="Shape 106"/>
          <p:cNvSpPr/>
          <p:nvPr/>
        </p:nvSpPr>
        <p:spPr>
          <a:xfrm>
            <a:off x="8366760" y="4059936"/>
            <a:ext cx="3008376" cy="1435608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458200" y="4114800"/>
            <a:ext cx="2825496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 Query = happy：</a:t>
            </a:r>
            <a:endParaRPr lang="en-US" sz="1460" dirty="0"/>
          </a:p>
          <a:p>
            <a:pPr marL="0" indent="0" algn="ctr">
              <a:buNone/>
            </a:pPr>
            <a:r>
              <a:rPr lang="en-US" sz="146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可以看 I、am、happy；</a:t>
            </a:r>
            <a:endParaRPr lang="en-US" sz="1460" dirty="0"/>
          </a:p>
          <a:p>
            <a:pPr marL="0" indent="0" algn="ctr">
              <a:buNone/>
            </a:pPr>
            <a:r>
              <a:rPr lang="en-US" sz="146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不能看 always、ready、late。</a:t>
            </a:r>
            <a:endParaRPr lang="en-US" sz="14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· 验证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怎样一次性验证，且不改变最终采样分布？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树状草稿是“候选集合”，不是直接输出；Target 负责计算自己的概率并执行接受 / 拒绝。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(ICML 2024) §3.3 / 上传EAGLE笔记 §07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93392"/>
            <a:ext cx="353872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203704"/>
            <a:ext cx="475488" cy="329184"/>
          </a:xfrm>
          <a:prstGeom prst="roundRect">
            <a:avLst>
              <a:gd name="adj" fmla="val 38889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20370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78408" y="2761488"/>
            <a:ext cx="313639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8408" y="3255264"/>
            <a:ext cx="309981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提出树状候选 + 草稿概率 q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398264" y="3154680"/>
            <a:ext cx="128016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99432" y="1993392"/>
            <a:ext cx="353872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2203704"/>
            <a:ext cx="475488" cy="329184"/>
          </a:xfrm>
          <a:prstGeom prst="roundRect">
            <a:avLst>
              <a:gd name="adj" fmla="val 38889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20370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13639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Forward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3255264"/>
            <a:ext cx="309981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展平节点 + Tree Mask，并行求目标概率 p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8220456" y="3154680"/>
            <a:ext cx="128016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21624" y="1993392"/>
            <a:ext cx="353872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31936" y="2203704"/>
            <a:ext cx="475488" cy="329184"/>
          </a:xfrm>
          <a:prstGeom prst="roundRect">
            <a:avLst>
              <a:gd name="adj" fmla="val 38889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1936" y="220370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622792" y="2761488"/>
            <a:ext cx="313639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接受与校正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22792" y="3255264"/>
            <a:ext cx="309981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沿合法路径逐步接受；拒绝后按规则重采样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987552" y="4745736"/>
            <a:ext cx="10195560" cy="1014984"/>
          </a:xfrm>
          <a:prstGeom prst="roundRect">
            <a:avLst>
              <a:gd name="adj" fmla="val 12613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4919472"/>
            <a:ext cx="9720072" cy="722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“无损”不是 Draft 永远猜对，而是正确实施验证与重采样后，输出分布与原始 Target 解码保持一致。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承上启下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已经解决什么？接下来瓶颈在哪里？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后两篇论文分别解决不同瓶颈，所以 EAGLE-2 与 EAGLE-3 并不是重复工作。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论文笔记：EAGLE / EAGLE-2 / EAGLE-3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10113264" cy="1024128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0160">
            <a:solidFill>
              <a:srgbClr val="B5C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37944"/>
            <a:ext cx="9930384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已有的能力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级轻量 Draft + 连续预测 + Tree Attention 验证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77824" y="3108960"/>
            <a:ext cx="50292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108960"/>
            <a:ext cx="50292" cy="2194560"/>
          </a:xfrm>
          <a:prstGeom prst="roundRect">
            <a:avLst>
              <a:gd name="adj" fmla="val 25454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25526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瓶颈 A：候选分配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584448"/>
            <a:ext cx="4645152" cy="1591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固定树结构不看当前预测难度，可能在低价值分支上浪费扩展和验证预算。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EAGLE-2：动态树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6245352" y="3108960"/>
            <a:ext cx="50292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3108960"/>
            <a:ext cx="50292" cy="2194560"/>
          </a:xfrm>
          <a:prstGeom prst="roundRect">
            <a:avLst>
              <a:gd name="adj" fmla="val 254545"/>
            </a:avLst>
          </a:prstGeom>
          <a:solidFill>
            <a:srgbClr val="D88D2B"/>
          </a:solidFill>
          <a:ln w="10160">
            <a:solidFill>
              <a:srgbClr val="D88D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325526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瓶颈 B：草稿能力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3584448"/>
            <a:ext cx="4645152" cy="1591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训练中主要依赖真实 Feature，推理中却逐步喂回自身预测；且显式 Feature Loss 限制表达能力。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EAGLE-3：训练目标和过程升级</a:t>
            </a:r>
            <a:endParaRPr lang="en-US" sz="14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 · 改进①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从固定树到动态树：用路径 Value 判断“值得扩展谁”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局部置信度高还不够；一个深层 Token 想被接受，前面的祖先也必须都被接受。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 (EMNLP 2024) §3 / 上传EAGLE-2笔记 §02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1093622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 Value：V(node) ≈ ∏ 路径上各 Token 的局部 Confidence</a:t>
            </a:r>
            <a:endParaRPr lang="en-US" sz="182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 rot="7680000">
            <a:off x="4023360" y="2880360"/>
            <a:ext cx="2112264" cy="941832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4823460" y="3163824"/>
            <a:ext cx="493776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4914900" y="3218688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0.80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6135624" y="2880360"/>
            <a:ext cx="1984248" cy="941832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6871716" y="3163824"/>
            <a:ext cx="493776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6963156" y="3218688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3986784" y="4032504"/>
            <a:ext cx="36576" cy="1060704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8"/>
            </p:custDataLst>
          </p:nvPr>
        </p:nvSpPr>
        <p:spPr>
          <a:xfrm>
            <a:off x="3749040" y="4375404"/>
            <a:ext cx="493776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3840480" y="4430268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0.90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8065008" y="4032504"/>
            <a:ext cx="54864" cy="1060704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1"/>
            </p:custDataLst>
          </p:nvPr>
        </p:nvSpPr>
        <p:spPr>
          <a:xfrm>
            <a:off x="7836408" y="4375404"/>
            <a:ext cx="493776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7927848" y="4430268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59552" y="2624328"/>
            <a:ext cx="1234440" cy="484632"/>
          </a:xfrm>
          <a:prstGeom prst="roundRect">
            <a:avLst>
              <a:gd name="adj" fmla="val 3018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679192"/>
            <a:ext cx="1051560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500" dirty="0"/>
          </a:p>
        </p:txBody>
      </p:sp>
      <p:sp>
        <p:nvSpPr>
          <p:cNvPr id="24" name="Shape 22"/>
          <p:cNvSpPr/>
          <p:nvPr>
            <p:custDataLst>
              <p:tags r:id="rId13"/>
            </p:custDataLst>
          </p:nvPr>
        </p:nvSpPr>
        <p:spPr>
          <a:xfrm>
            <a:off x="3447288" y="3776472"/>
            <a:ext cx="1234440" cy="557784"/>
          </a:xfrm>
          <a:prstGeom prst="roundRect">
            <a:avLst>
              <a:gd name="adj" fmla="val 262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4"/>
            </p:custDataLst>
          </p:nvPr>
        </p:nvSpPr>
        <p:spPr>
          <a:xfrm>
            <a:off x="3538728" y="3831336"/>
            <a:ext cx="1051560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= 0.80</a:t>
            </a:r>
            <a:endParaRPr lang="en-US" sz="1380" dirty="0"/>
          </a:p>
        </p:txBody>
      </p:sp>
      <p:sp>
        <p:nvSpPr>
          <p:cNvPr id="26" name="Shape 24"/>
          <p:cNvSpPr/>
          <p:nvPr>
            <p:custDataLst>
              <p:tags r:id="rId15"/>
            </p:custDataLst>
          </p:nvPr>
        </p:nvSpPr>
        <p:spPr>
          <a:xfrm>
            <a:off x="7543800" y="3776472"/>
            <a:ext cx="1234440" cy="557784"/>
          </a:xfrm>
          <a:prstGeom prst="roundRect">
            <a:avLst>
              <a:gd name="adj" fmla="val 262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16"/>
            </p:custDataLst>
          </p:nvPr>
        </p:nvSpPr>
        <p:spPr>
          <a:xfrm>
            <a:off x="7635240" y="3831336"/>
            <a:ext cx="1051560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= 0.20</a:t>
            </a:r>
            <a:endParaRPr lang="en-US" sz="1380" dirty="0"/>
          </a:p>
        </p:txBody>
      </p:sp>
      <p:sp>
        <p:nvSpPr>
          <p:cNvPr id="28" name="Shape 26"/>
          <p:cNvSpPr/>
          <p:nvPr>
            <p:custDataLst>
              <p:tags r:id="rId17"/>
            </p:custDataLst>
          </p:nvPr>
        </p:nvSpPr>
        <p:spPr>
          <a:xfrm>
            <a:off x="3410712" y="5047488"/>
            <a:ext cx="1234440" cy="557784"/>
          </a:xfrm>
          <a:prstGeom prst="roundRect">
            <a:avLst>
              <a:gd name="adj" fmla="val 26230"/>
            </a:avLst>
          </a:prstGeom>
          <a:solidFill>
            <a:srgbClr val="E5F7F3"/>
          </a:solidFill>
          <a:ln w="10160">
            <a:solidFill>
              <a:srgbClr val="B3E2D5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18"/>
            </p:custDataLst>
          </p:nvPr>
        </p:nvSpPr>
        <p:spPr>
          <a:xfrm>
            <a:off x="3502152" y="5102352"/>
            <a:ext cx="1051560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= 0.72</a:t>
            </a:r>
            <a:endParaRPr lang="en-US" sz="1380" dirty="0"/>
          </a:p>
        </p:txBody>
      </p:sp>
      <p:sp>
        <p:nvSpPr>
          <p:cNvPr id="30" name="Shape 28"/>
          <p:cNvSpPr/>
          <p:nvPr>
            <p:custDataLst>
              <p:tags r:id="rId19"/>
            </p:custDataLst>
          </p:nvPr>
        </p:nvSpPr>
        <p:spPr>
          <a:xfrm>
            <a:off x="7488936" y="5047488"/>
            <a:ext cx="1234440" cy="557784"/>
          </a:xfrm>
          <a:prstGeom prst="roundRect">
            <a:avLst>
              <a:gd name="adj" fmla="val 262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0"/>
            </p:custDataLst>
          </p:nvPr>
        </p:nvSpPr>
        <p:spPr>
          <a:xfrm>
            <a:off x="7580376" y="5102352"/>
            <a:ext cx="1051560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= 0.16</a:t>
            </a:r>
            <a:endParaRPr lang="en-US" sz="1380" dirty="0"/>
          </a:p>
        </p:txBody>
      </p:sp>
      <p:sp>
        <p:nvSpPr>
          <p:cNvPr id="32" name="Shape 30"/>
          <p:cNvSpPr/>
          <p:nvPr/>
        </p:nvSpPr>
        <p:spPr>
          <a:xfrm>
            <a:off x="832104" y="4087368"/>
            <a:ext cx="2432304" cy="95097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4142232"/>
            <a:ext cx="2249424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C：0.80 × 0.90 = 0.72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E：0.20 × 0.80 = 0.16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52560" y="4041648"/>
            <a:ext cx="2331720" cy="1353312"/>
          </a:xfrm>
          <a:prstGeom prst="roundRect">
            <a:avLst>
              <a:gd name="adj" fmla="val 10811"/>
            </a:avLst>
          </a:prstGeom>
          <a:solidFill>
            <a:srgbClr val="FFF2D9"/>
          </a:solidFill>
          <a:ln w="10160">
            <a:solidFill>
              <a:srgbClr val="F0D7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4096512"/>
            <a:ext cx="214884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即使 E 的局部 confidence = 0.8，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其祖先 B 只有 0.2，整条路径仍不可靠。</a:t>
            </a:r>
            <a:endParaRPr lang="en-US" sz="14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 · 改进②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动态树的两步：Expansion ≠ Reranking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Expansion 决定“探索哪里”；Reranking 决定“最终让 Target 验证哪些节点”。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 (EMNLP 2024) §3 / 上传EAGLE-2笔记 §03–05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510235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01952"/>
            <a:ext cx="50292" cy="1874520"/>
          </a:xfrm>
          <a:prstGeom prst="roundRect">
            <a:avLst>
              <a:gd name="adj" fmla="val 25454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48256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1 · Expansion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4718304" cy="1271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反复对当前候选计算路径 Value；把后续 Draft 计算优先分配给价值高的节点，生成更多候选。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6263640" y="1901952"/>
            <a:ext cx="510235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901952"/>
            <a:ext cx="50292" cy="1874520"/>
          </a:xfrm>
          <a:prstGeom prst="roundRect">
            <a:avLst>
              <a:gd name="adj" fmla="val 25454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48256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2 · Reranking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2377440"/>
            <a:ext cx="4718304" cy="1271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扩展结束后，在最终验证 Token 预算 M 内，重新挑选 Value 高且父节点完整的合法前缀树。</a:t>
            </a:r>
            <a:endParaRPr lang="en-US" sz="1410" dirty="0"/>
          </a:p>
        </p:txBody>
      </p:sp>
      <p:sp>
        <p:nvSpPr>
          <p:cNvPr id="17" name="Text 15"/>
          <p:cNvSpPr/>
          <p:nvPr/>
        </p:nvSpPr>
        <p:spPr>
          <a:xfrm>
            <a:off x="868680" y="4087368"/>
            <a:ext cx="1047902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例：扩展得到 6 个候选，但最终只能验证 4 个节点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E5F7F3"/>
          </a:solidFill>
          <a:ln w="10160">
            <a:solidFill>
              <a:srgbClr val="B6E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 0.90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92354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保留（示意）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274320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E5F7F3"/>
          </a:solidFill>
          <a:ln w="10160">
            <a:solidFill>
              <a:srgbClr val="B6E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 0.75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279806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保留（示意）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461772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E5F7F3"/>
          </a:solidFill>
          <a:ln w="10160">
            <a:solidFill>
              <a:srgbClr val="B6E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 0.68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467258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保留（示意）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49224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E5F7F3"/>
          </a:solidFill>
          <a:ln w="10160">
            <a:solidFill>
              <a:srgbClr val="B6E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  0.41</a:t>
            </a:r>
            <a:endParaRPr lang="en-US" sz="1460" dirty="0"/>
          </a:p>
        </p:txBody>
      </p:sp>
      <p:sp>
        <p:nvSpPr>
          <p:cNvPr id="29" name="Text 27"/>
          <p:cNvSpPr/>
          <p:nvPr/>
        </p:nvSpPr>
        <p:spPr>
          <a:xfrm>
            <a:off x="654710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保留（示意）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836676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162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   0.08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842162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不保留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10241280" y="4590288"/>
            <a:ext cx="1627632" cy="832104"/>
          </a:xfrm>
          <a:prstGeom prst="roundRect">
            <a:avLst>
              <a:gd name="adj" fmla="val 15385"/>
            </a:avLst>
          </a:prstGeom>
          <a:solidFill>
            <a:srgbClr val="F0F4FA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4709160"/>
            <a:ext cx="14996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   0.03</a:t>
            </a:r>
            <a:endParaRPr lang="en-US" sz="1460" dirty="0"/>
          </a:p>
        </p:txBody>
      </p:sp>
      <p:sp>
        <p:nvSpPr>
          <p:cNvPr id="35" name="Text 33"/>
          <p:cNvSpPr/>
          <p:nvPr/>
        </p:nvSpPr>
        <p:spPr>
          <a:xfrm>
            <a:off x="10296144" y="504748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不保留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914400" y="5669280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最终保留节点必须满足树的祖先依赖；上面的数值只用于解释预算选择。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· 动机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为什么不再强迫预测 Feature “长得像” Target？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最终目标是让草稿 Token 被接受；精确复制 Target 的内部向量可能是不必要的约束。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(NeurIPS 2025) §1 / 上传EAGLE-3笔记 §03–05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901952"/>
            <a:ext cx="5193792" cy="3355848"/>
          </a:xfrm>
          <a:prstGeom prst="roundRect">
            <a:avLst>
              <a:gd name="adj" fmla="val 381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01952"/>
            <a:ext cx="50292" cy="3355848"/>
          </a:xfrm>
          <a:prstGeom prst="roundRect">
            <a:avLst>
              <a:gd name="adj" fmla="val 25454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48256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 / EAGLE-2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2377440"/>
            <a:ext cx="4809744" cy="27523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Drafter 输出 f̂_(t+1)。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训练时要求：</a:t>
            </a: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f̂ 接近真实 f（Feature Loss）</a:t>
            </a: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经 LM Head 后的 Token 分布接近（Token Loss）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6309360" y="1901952"/>
            <a:ext cx="5193792" cy="3355848"/>
          </a:xfrm>
          <a:prstGeom prst="roundRect">
            <a:avLst>
              <a:gd name="adj" fmla="val 381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901952"/>
            <a:ext cx="50292" cy="3355848"/>
          </a:xfrm>
          <a:prstGeom prst="roundRect">
            <a:avLst>
              <a:gd name="adj" fmla="val 254545"/>
            </a:avLst>
          </a:prstGeom>
          <a:solidFill>
            <a:srgbClr val="D88D2B"/>
          </a:solidFill>
          <a:ln w="10160">
            <a:solidFill>
              <a:srgbClr val="D88D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048256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2377440"/>
            <a:ext cx="4809744" cy="27523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Drafter 输出自由隐藏向量 a_(t+1)。</a:t>
            </a:r>
            <a:endParaRPr lang="en-US" sz="1410" dirty="0"/>
          </a:p>
          <a:p>
            <a:pPr marL="0" indent="0" algn="l">
              <a:buNone/>
            </a:pPr>
            <a:endParaRPr lang="en-US" sz="1410" dirty="0"/>
          </a:p>
          <a:p>
            <a:pPr marL="0" indent="0" algn="l">
              <a:buNone/>
            </a:pPr>
            <a:r>
              <a:rPr lang="en-US" sz="1410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训练重点变为：经 LM Head 预测正确的 Token 分布；不再强制 a 去回归真实的 Target Feature。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950976" y="5504688"/>
            <a:ext cx="10177272" cy="502920"/>
          </a:xfrm>
          <a:prstGeom prst="roundRect">
            <a:avLst>
              <a:gd name="adj" fmla="val 25455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5577840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注意：EAGLE-3 仍然使用中间向量和共享 LM Head；改变的是“向量是否必须拟合真实 Feature”。</a:t>
            </a:r>
            <a:endParaRPr lang="en-US" sz="14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8346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7E8"/>
                </a:solidFill>
                <a:latin typeface="Noto Sans CJK SC"/>
              </a:rPr>
              <a:t>EAGLE-3 · 取消 FEATURE LOSS 补充例子</a:t>
            </a:r>
            <a:endParaRPr sz="105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30936"/>
            <a:ext cx="111922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13A"/>
                </a:solidFill>
                <a:latin typeface="Noto Sans CJK SC"/>
              </a:rPr>
              <a:t>为什么“向量不一样”也可能“Token 预测一样”？</a:t>
            </a:r>
            <a:endParaRPr sz="260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093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62728A"/>
                </a:solidFill>
                <a:latin typeface="Noto Sans CJK SC"/>
              </a:rPr>
              <a:t>做一个二维小例子：词表只有 pizza / soup，LM Head 把向量两个分量当作 logits。</a:t>
            </a:r>
            <a:endParaRPr sz="1325" b="0">
              <a:solidFill>
                <a:srgbClr val="62728A"/>
              </a:solidFill>
              <a:latin typeface="Noto Sans CJK SC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391656"/>
            <a:ext cx="11082528" cy="0"/>
          </a:xfrm>
          <a:prstGeom prst="line">
            <a:avLst/>
          </a:prstGeom>
          <a:ln w="10795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10058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28A"/>
                </a:solidFill>
                <a:latin typeface="Noto Sans CJK SC"/>
              </a:rPr>
              <a:t>EAGLE-3 (NeurIPS 2025) §1 · 二维例子仅说明机制</a:t>
            </a:r>
            <a:endParaRPr sz="90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69880" y="6464808"/>
            <a:ext cx="11247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2728A"/>
                </a:solidFill>
                <a:latin typeface="Noto Sans CJK SC"/>
              </a:rPr>
              <a:t>接第 17 页</a:t>
            </a:r>
            <a:endParaRPr sz="96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4088" y="1847088"/>
            <a:ext cx="5266944" cy="29809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993392"/>
            <a:ext cx="4956048" cy="384048"/>
          </a:xfrm>
          <a:prstGeom prst="roundRect">
            <a:avLst>
              <a:gd name="adj" fmla="val 13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>
                <a:solidFill>
                  <a:srgbClr val="2F67E8"/>
                </a:solidFill>
                <a:latin typeface="Noto Sans CJK SC"/>
              </a:rPr>
              <a:t>TARGET：真实 Feature f</a:t>
            </a:r>
            <a:endParaRPr sz="149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49631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3213A"/>
                </a:solidFill>
                <a:latin typeface="Noto Sans CJK SC"/>
              </a:rPr>
              <a:t>f = [2, 1]</a:t>
            </a:r>
            <a:endParaRPr sz="240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3063240"/>
            <a:ext cx="48006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92B45"/>
                </a:solidFill>
                <a:latin typeface="Noto Sans CJK SC"/>
              </a:rPr>
              <a:t>共享 LM Head → logits = [2, 1]</a:t>
            </a:r>
            <a:endParaRPr sz="1510" b="0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" y="3557016"/>
            <a:ext cx="4901184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F67E8"/>
                </a:solidFill>
                <a:latin typeface="Noto Sans CJK SC"/>
              </a:rPr>
              <a:t>Softmax  →  pizza 73.1%   |   soup 26.9%</a:t>
            </a:r>
            <a:endParaRPr sz="145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98448" y="4105656"/>
            <a:ext cx="4069080" cy="20116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8448" y="4105656"/>
            <a:ext cx="2974497" cy="201168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2945" y="4105656"/>
            <a:ext cx="1094582" cy="201168"/>
          </a:xfrm>
          <a:prstGeom prst="rect">
            <a:avLst/>
          </a:prstGeom>
          <a:solidFill>
            <a:srgbClr val="D88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79976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2728A"/>
                </a:solidFill>
                <a:latin typeface="Noto Sans CJK SC"/>
              </a:rPr>
              <a:t>pizza 73.1%     soup 26.9%</a:t>
            </a:r>
            <a:endParaRPr sz="116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8776" y="1847088"/>
            <a:ext cx="5266944" cy="29809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1993392"/>
            <a:ext cx="4956048" cy="384048"/>
          </a:xfrm>
          <a:prstGeom prst="roundRect">
            <a:avLst>
              <a:gd name="adj" fmla="val 13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039112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>
                <a:solidFill>
                  <a:srgbClr val="D88D2B"/>
                </a:solidFill>
                <a:latin typeface="Noto Sans CJK SC"/>
              </a:rPr>
              <a:t>EAGLE-3：预测隐藏向量 a</a:t>
            </a:r>
            <a:endParaRPr sz="149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249631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3213A"/>
                </a:solidFill>
                <a:latin typeface="Noto Sans CJK SC"/>
              </a:rPr>
              <a:t>a = [5, 4]</a:t>
            </a:r>
            <a:endParaRPr sz="240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37376" y="3063240"/>
            <a:ext cx="48006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92B45"/>
                </a:solidFill>
                <a:latin typeface="Noto Sans CJK SC"/>
              </a:rPr>
              <a:t>共享 LM Head → logits = [5, 4]</a:t>
            </a:r>
            <a:endParaRPr sz="1510" b="0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1656" y="3557016"/>
            <a:ext cx="4901184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88D2B"/>
                </a:solidFill>
                <a:latin typeface="Noto Sans CJK SC"/>
              </a:rPr>
              <a:t>Softmax  →  pizza 73.1%   |   soup 26.9%</a:t>
            </a:r>
            <a:endParaRPr sz="145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03136" y="4105656"/>
            <a:ext cx="4069080" cy="20116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03136" y="4105656"/>
            <a:ext cx="2974497" cy="201168"/>
          </a:xfrm>
          <a:prstGeom prst="rect">
            <a:avLst/>
          </a:prstGeom>
          <a:solidFill>
            <a:srgbClr val="0C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77633" y="4105656"/>
            <a:ext cx="1094582" cy="201168"/>
          </a:xfrm>
          <a:prstGeom prst="rect">
            <a:avLst/>
          </a:prstGeom>
          <a:solidFill>
            <a:srgbClr val="D88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4379976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2728A"/>
                </a:solidFill>
                <a:latin typeface="Noto Sans CJK SC"/>
              </a:rPr>
              <a:t>pizza 73.1%     soup 26.9%</a:t>
            </a:r>
            <a:endParaRPr sz="116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4088" y="5084064"/>
            <a:ext cx="10771632" cy="1069848"/>
          </a:xfrm>
          <a:prstGeom prst="roundRect">
            <a:avLst>
              <a:gd name="adj" fmla="val 13000"/>
            </a:avLst>
          </a:prstGeom>
          <a:solidFill>
            <a:srgbClr val="EAF0FF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75504"/>
            <a:ext cx="10222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0" b="1">
                <a:solidFill>
                  <a:srgbClr val="2F67E8"/>
                </a:solidFill>
                <a:latin typeface="Noto Sans CJK SC"/>
              </a:rPr>
              <a:t>Softmax([2,1]) = Softmax([5,4])  ≈  [0.731, 0.269]</a:t>
            </a:r>
            <a:endParaRPr sz="201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51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92B45"/>
                </a:solidFill>
                <a:latin typeface="Noto Sans CJK SC"/>
              </a:rPr>
              <a:t>虽然 a − f = [3,3]，Feature Loss 会惩罚差异；EAGLE-3 不再要求隐藏向量逐维逼近 f。</a:t>
            </a:r>
            <a:endParaRPr sz="1430" b="0">
              <a:solidFill>
                <a:srgbClr val="192B45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· 核心训练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你之前的疑问：EAGLE-1 早就会连续生成，那 EAGLE-3 新在哪？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答案：两者推理时都会“喂回自身输出”；EAGLE-3 把这种连续自预测也放进训练。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(NeurIPS 2025) §3.2 / 上传EAGLE-3笔记 §06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64792"/>
            <a:ext cx="55504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EAGLE-1：训练阶段（示意）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3328416" cy="813816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50592"/>
            <a:ext cx="11521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f_0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1947672" y="2734056"/>
            <a:ext cx="283464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13432" y="242316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f̂_1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4462272" y="2331720"/>
            <a:ext cx="3328416" cy="813816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450592"/>
            <a:ext cx="11521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f_1</a:t>
            </a:r>
            <a:endParaRPr lang="en-US" sz="1530" dirty="0"/>
          </a:p>
        </p:txBody>
      </p:sp>
      <p:sp>
        <p:nvSpPr>
          <p:cNvPr id="16" name="Shape 14"/>
          <p:cNvSpPr/>
          <p:nvPr/>
        </p:nvSpPr>
        <p:spPr>
          <a:xfrm>
            <a:off x="5724144" y="2734056"/>
            <a:ext cx="283464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089904" y="242316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f̂_2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8193024" y="2331720"/>
            <a:ext cx="3328416" cy="813816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2450592"/>
            <a:ext cx="11521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f_2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9454896" y="2734056"/>
            <a:ext cx="283464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820656" y="242316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f̂_3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749808" y="3300984"/>
            <a:ext cx="1063447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主要从 Target 提供的真实历史 Feature 中学习局部转换；训练时加入噪声缓解误差。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749808" y="3858768"/>
            <a:ext cx="106253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096512"/>
            <a:ext cx="1047902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EAGLE-3：Training-Time Test（训练时就模拟多步展开）</a:t>
            </a:r>
            <a:endParaRPr lang="en-US" sz="1720" dirty="0"/>
          </a:p>
        </p:txBody>
      </p:sp>
      <p:sp>
        <p:nvSpPr>
          <p:cNvPr id="25" name="Shape 23"/>
          <p:cNvSpPr/>
          <p:nvPr/>
        </p:nvSpPr>
        <p:spPr>
          <a:xfrm>
            <a:off x="685800" y="4663440"/>
            <a:ext cx="3328416" cy="822960"/>
          </a:xfrm>
          <a:prstGeom prst="roundRect">
            <a:avLst>
              <a:gd name="adj" fmla="val 15556"/>
            </a:avLst>
          </a:prstGeom>
          <a:solidFill>
            <a:srgbClr val="EAF0FF"/>
          </a:solidFill>
          <a:ln w="10160">
            <a:solidFill>
              <a:srgbClr val="B9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800600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目标模型输入 g_0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2103120" y="5084064"/>
            <a:ext cx="301752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478024" y="4800600"/>
            <a:ext cx="14173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a_1</a:t>
            </a:r>
            <a:endParaRPr lang="en-US" sz="1460" dirty="0"/>
          </a:p>
        </p:txBody>
      </p:sp>
      <p:sp>
        <p:nvSpPr>
          <p:cNvPr id="29" name="Shape 27"/>
          <p:cNvSpPr/>
          <p:nvPr/>
        </p:nvSpPr>
        <p:spPr>
          <a:xfrm>
            <a:off x="4462272" y="4663440"/>
            <a:ext cx="3328416" cy="822960"/>
          </a:xfrm>
          <a:prstGeom prst="roundRect">
            <a:avLst>
              <a:gd name="adj" fmla="val 15556"/>
            </a:avLst>
          </a:prstGeom>
          <a:solidFill>
            <a:srgbClr val="E5F7F3"/>
          </a:solidFill>
          <a:ln w="10160">
            <a:solidFill>
              <a:srgbClr val="BCE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2856" y="4800600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自己的 a_1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5879592" y="5084064"/>
            <a:ext cx="301752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254496" y="4800600"/>
            <a:ext cx="14173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a_2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8193024" y="4663440"/>
            <a:ext cx="3328416" cy="822960"/>
          </a:xfrm>
          <a:prstGeom prst="roundRect">
            <a:avLst>
              <a:gd name="adj" fmla="val 15556"/>
            </a:avLst>
          </a:prstGeom>
          <a:solidFill>
            <a:srgbClr val="E5F7F3"/>
          </a:solidFill>
          <a:ln w="10160">
            <a:solidFill>
              <a:srgbClr val="BCE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4800600"/>
            <a:ext cx="12893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自己的 a_2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9610344" y="5084064"/>
            <a:ext cx="301752" cy="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985248" y="4800600"/>
            <a:ext cx="14173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→ a_3</a:t>
            </a:r>
            <a:endParaRPr lang="en-US" sz="1460" dirty="0"/>
          </a:p>
        </p:txBody>
      </p:sp>
      <p:sp>
        <p:nvSpPr>
          <p:cNvPr id="37" name="Text 35"/>
          <p:cNvSpPr/>
          <p:nvPr/>
        </p:nvSpPr>
        <p:spPr>
          <a:xfrm>
            <a:off x="795528" y="5733288"/>
            <a:ext cx="1060704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9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各步的 Token 预测都受训练监督；从第二步起，模型会看到自己生成的 a，而不只是 Target 的真实特征。</a:t>
            </a:r>
            <a:endParaRPr lang="en-US" sz="12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· 输入升级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取消 Feature 回归约束后，EAGLE-3 也能更灵活地利用多层信息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 / 中 / 高层 Target Feature 拼接 → 降维得到 g，再与已选 Token Embedding 共同输入 Drafter。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(NeurIPS 2025) §3.1 / 上传EAGLE-3笔记 §07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2688" y="2103120"/>
            <a:ext cx="1627632" cy="832104"/>
          </a:xfrm>
          <a:prstGeom prst="roundRect">
            <a:avLst>
              <a:gd name="adj" fmla="val 17582"/>
            </a:avLst>
          </a:prstGeom>
          <a:solidFill>
            <a:srgbClr val="EAF0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157984"/>
            <a:ext cx="1444752" cy="722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l_t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28216" y="2990088"/>
            <a:ext cx="2505456" cy="59436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9504" y="2103120"/>
            <a:ext cx="1627632" cy="832104"/>
          </a:xfrm>
          <a:prstGeom prst="roundRect">
            <a:avLst>
              <a:gd name="adj" fmla="val 17582"/>
            </a:avLst>
          </a:prstGeom>
          <a:solidFill>
            <a:srgbClr val="E5F7F3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157984"/>
            <a:ext cx="1444752" cy="722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m_t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85032" y="2990088"/>
            <a:ext cx="548640" cy="59436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103120"/>
            <a:ext cx="1627632" cy="832104"/>
          </a:xfrm>
          <a:prstGeom prst="roundRect">
            <a:avLst>
              <a:gd name="adj" fmla="val 17582"/>
            </a:avLst>
          </a:prstGeom>
          <a:solidFill>
            <a:srgbClr val="FFF2D9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57984"/>
            <a:ext cx="1444752" cy="722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h_t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7260000">
            <a:off x="4233672" y="2990088"/>
            <a:ext cx="1408176" cy="594360"/>
          </a:xfrm>
          <a:prstGeom prst="line">
            <a:avLst/>
          </a:prstGeom>
          <a:noFill/>
          <a:ln w="17780">
            <a:solidFill>
              <a:srgbClr val="6272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46120" y="3758184"/>
            <a:ext cx="2048256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813048"/>
            <a:ext cx="1865376" cy="6675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Concat: 3d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FC → 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404104" y="4142232"/>
            <a:ext cx="640080" cy="0"/>
          </a:xfrm>
          <a:prstGeom prst="line">
            <a:avLst/>
          </a:prstGeom>
          <a:noFill/>
          <a:ln w="2159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3749040"/>
            <a:ext cx="1627632" cy="786384"/>
          </a:xfrm>
          <a:prstGeom prst="roundRect">
            <a:avLst>
              <a:gd name="adj" fmla="val 18605"/>
            </a:avLst>
          </a:prstGeom>
          <a:solidFill>
            <a:srgbClr val="EAF0FF"/>
          </a:solidFill>
          <a:ln w="10160">
            <a:solidFill>
              <a:srgbClr val="B5C8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803904"/>
            <a:ext cx="1444752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融合特征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g_t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909560" y="4142232"/>
            <a:ext cx="539496" cy="0"/>
          </a:xfrm>
          <a:prstGeom prst="line">
            <a:avLst/>
          </a:prstGeom>
          <a:noFill/>
          <a:ln w="21590">
            <a:solidFill>
              <a:srgbClr val="2F67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86216" y="3685032"/>
            <a:ext cx="2926080" cy="950976"/>
          </a:xfrm>
          <a:prstGeom prst="roundRect">
            <a:avLst>
              <a:gd name="adj" fmla="val 15385"/>
            </a:avLst>
          </a:prstGeom>
          <a:solidFill>
            <a:srgbClr val="E5F7F3"/>
          </a:solidFill>
          <a:ln w="10160">
            <a:solidFill>
              <a:srgbClr val="BDE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7656" y="3739896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shifted Token Embedding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Draft → a_t → LM Head</a:t>
            </a:r>
            <a:endParaRPr lang="en-US" sz="1540" dirty="0"/>
          </a:p>
        </p:txBody>
      </p:sp>
      <p:sp>
        <p:nvSpPr>
          <p:cNvPr id="26" name="Shape 24"/>
          <p:cNvSpPr/>
          <p:nvPr/>
        </p:nvSpPr>
        <p:spPr>
          <a:xfrm>
            <a:off x="758952" y="5312664"/>
            <a:ext cx="1069848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404104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推理时 EAGLE-3 仍可沿用 EAGLE-2 的动态树；变化重点集中于 Draft 的输入、输出约束与训练。</a:t>
            </a:r>
            <a:endParaRPr lang="en-US" sz="14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8346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7E8"/>
                </a:solidFill>
                <a:latin typeface="Noto Sans CJK SC"/>
              </a:rPr>
              <a:t>EAGLE-3 · 多层融合补充例子</a:t>
            </a:r>
            <a:endParaRPr sz="105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30936"/>
            <a:ext cx="111922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13A"/>
                </a:solidFill>
                <a:latin typeface="Noto Sans CJK SC"/>
              </a:rPr>
              <a:t>从“I like”到“eating pizza”：多层 Feature 怎么用？</a:t>
            </a:r>
            <a:endParaRPr sz="260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093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62728A"/>
                </a:solidFill>
                <a:latin typeface="Noto Sans CJK SC"/>
              </a:rPr>
              <a:t>沿用原图符号：三层 Target Feature 拼接、降维为 g_t，再结合已选 Token 输入 Drafter。</a:t>
            </a:r>
            <a:endParaRPr sz="1325" b="0">
              <a:solidFill>
                <a:srgbClr val="62728A"/>
              </a:solidFill>
              <a:latin typeface="Noto Sans CJK SC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391656"/>
            <a:ext cx="11082528" cy="0"/>
          </a:xfrm>
          <a:prstGeom prst="line">
            <a:avLst/>
          </a:prstGeom>
          <a:ln w="10795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10058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28A"/>
                </a:solidFill>
                <a:latin typeface="Noto Sans CJK SC"/>
              </a:rPr>
              <a:t>EAGLE-3 (NeurIPS 2025) §3.1 · 各向量数值仅演示维度</a:t>
            </a:r>
            <a:endParaRPr sz="90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69880" y="6464808"/>
            <a:ext cx="11247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2728A"/>
                </a:solidFill>
                <a:latin typeface="Noto Sans CJK SC"/>
              </a:rPr>
              <a:t>接第 19 页</a:t>
            </a:r>
            <a:endParaRPr sz="960" b="0">
              <a:solidFill>
                <a:srgbClr val="62728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4088" y="1847088"/>
            <a:ext cx="10780776" cy="4663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947672"/>
            <a:ext cx="10378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2B45"/>
                </a:solidFill>
                <a:latin typeface="Noto Sans CJK SC"/>
              </a:rPr>
              <a:t>Target 已处理 “I like” ；从下一 Token 分布已选出 x_(t+1) = “eating”</a:t>
            </a:r>
            <a:endParaRPr sz="1500" b="1">
              <a:solidFill>
                <a:srgbClr val="192B45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2376" y="2551176"/>
            <a:ext cx="3401568" cy="987552"/>
          </a:xfrm>
          <a:prstGeom prst="roundRect">
            <a:avLst>
              <a:gd name="adj" fmla="val 13000"/>
            </a:avLst>
          </a:prstGeom>
          <a:solidFill>
            <a:srgbClr val="EAF0FF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679192"/>
            <a:ext cx="316382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2F67E8"/>
                </a:solidFill>
                <a:latin typeface="Noto Sans CJK SC"/>
              </a:rPr>
              <a:t>低层 l_t</a:t>
            </a:r>
            <a:endParaRPr sz="166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13213A"/>
                </a:solidFill>
                <a:latin typeface="Noto Sans CJK SC"/>
              </a:rPr>
              <a:t>[0.2, 0.8]</a:t>
            </a:r>
            <a:endParaRPr sz="189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2551176"/>
            <a:ext cx="3401568" cy="987552"/>
          </a:xfrm>
          <a:prstGeom prst="roundRect">
            <a:avLst>
              <a:gd name="adj" fmla="val 13000"/>
            </a:avLst>
          </a:prstGeom>
          <a:solidFill>
            <a:srgbClr val="E5F7F3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679192"/>
            <a:ext cx="316382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C9488"/>
                </a:solidFill>
                <a:latin typeface="Noto Sans CJK SC"/>
              </a:rPr>
              <a:t>中层 m_t</a:t>
            </a:r>
            <a:endParaRPr sz="1660" b="1">
              <a:solidFill>
                <a:srgbClr val="0C9488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7992" y="30175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13213A"/>
                </a:solidFill>
                <a:latin typeface="Noto Sans CJK SC"/>
              </a:rPr>
              <a:t>[0.6, 0.4]</a:t>
            </a:r>
            <a:endParaRPr sz="189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55864" y="2551176"/>
            <a:ext cx="3401568" cy="987552"/>
          </a:xfrm>
          <a:prstGeom prst="roundRect">
            <a:avLst>
              <a:gd name="adj" fmla="val 13000"/>
            </a:avLst>
          </a:prstGeom>
          <a:solidFill>
            <a:srgbClr val="FFF2D9"/>
          </a:solidFill>
          <a:ln w="1016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2679192"/>
            <a:ext cx="316382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D88D2B"/>
                </a:solidFill>
                <a:latin typeface="Noto Sans CJK SC"/>
              </a:rPr>
              <a:t>高层 h_t</a:t>
            </a:r>
            <a:endParaRPr sz="1660" b="1">
              <a:solidFill>
                <a:srgbClr val="D88D2B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74736" y="30175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13213A"/>
                </a:solidFill>
                <a:latin typeface="Noto Sans CJK SC"/>
              </a:rPr>
              <a:t>[0.9, 0.1]</a:t>
            </a:r>
            <a:endParaRPr sz="1890" b="1">
              <a:solidFill>
                <a:srgbClr val="13213A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3575304"/>
            <a:ext cx="0" cy="118872"/>
          </a:xfrm>
          <a:prstGeom prst="line">
            <a:avLst/>
          </a:prstGeom>
          <a:ln w="19685">
            <a:solidFill>
              <a:srgbClr val="627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3575304"/>
            <a:ext cx="0" cy="118872"/>
          </a:xfrm>
          <a:prstGeom prst="line">
            <a:avLst/>
          </a:prstGeom>
          <a:ln w="19685">
            <a:solidFill>
              <a:srgbClr val="627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47504" y="3575304"/>
            <a:ext cx="0" cy="118872"/>
          </a:xfrm>
          <a:prstGeom prst="line">
            <a:avLst/>
          </a:prstGeom>
          <a:ln w="19685">
            <a:solidFill>
              <a:srgbClr val="627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23160" y="3694176"/>
            <a:ext cx="7324344" cy="0"/>
          </a:xfrm>
          <a:prstGeom prst="line">
            <a:avLst/>
          </a:prstGeom>
          <a:ln w="18415">
            <a:solidFill>
              <a:srgbClr val="627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3694176"/>
            <a:ext cx="0" cy="173736"/>
          </a:xfrm>
          <a:prstGeom prst="line">
            <a:avLst/>
          </a:prstGeom>
          <a:ln w="20955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99048" y="3771900"/>
            <a:ext cx="50292" cy="96012"/>
          </a:xfrm>
          <a:prstGeom prst="line">
            <a:avLst/>
          </a:prstGeom>
          <a:ln w="20955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48756" y="3771900"/>
            <a:ext cx="50292" cy="96012"/>
          </a:xfrm>
          <a:prstGeom prst="line">
            <a:avLst/>
          </a:prstGeom>
          <a:ln w="20955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3877056"/>
            <a:ext cx="7095744" cy="667512"/>
          </a:xfrm>
          <a:prstGeom prst="roundRect">
            <a:avLst>
              <a:gd name="adj" fmla="val 13000"/>
            </a:avLst>
          </a:prstGeom>
          <a:solidFill>
            <a:srgbClr val="EAF0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14215"/>
            <a:ext cx="676656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30" b="1">
                <a:solidFill>
                  <a:srgbClr val="2F67E8"/>
                </a:solidFill>
                <a:latin typeface="Noto Sans CJK SC"/>
              </a:rPr>
              <a:t>Concat(l_t, m_t, h_t): 6 维 → FC(6→2) → g_t</a:t>
            </a:r>
            <a:endParaRPr sz="1630" b="1">
              <a:solidFill>
                <a:srgbClr val="2F67E8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19872" y="3877056"/>
            <a:ext cx="3346704" cy="667512"/>
          </a:xfrm>
          <a:prstGeom prst="roundRect">
            <a:avLst>
              <a:gd name="adj" fmla="val 13000"/>
            </a:avLst>
          </a:prstGeom>
          <a:solidFill>
            <a:srgbClr val="E5F7F3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014215"/>
            <a:ext cx="31363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9488"/>
                </a:solidFill>
                <a:latin typeface="Noto Sans CJK SC"/>
              </a:rPr>
              <a:t>已选 eating → Embedding</a:t>
            </a:r>
            <a:endParaRPr sz="1500" b="1">
              <a:solidFill>
                <a:srgbClr val="0C9488"/>
              </a:solidFill>
              <a:latin typeface="Noto Sans CJK SC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4553712"/>
            <a:ext cx="0" cy="201168"/>
          </a:xfrm>
          <a:prstGeom prst="line">
            <a:avLst/>
          </a:prstGeom>
          <a:ln w="20320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089904" y="4658868"/>
            <a:ext cx="50292" cy="96012"/>
          </a:xfrm>
          <a:prstGeom prst="line">
            <a:avLst/>
          </a:prstGeom>
          <a:ln w="20320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39612" y="4658868"/>
            <a:ext cx="50292" cy="96012"/>
          </a:xfrm>
          <a:prstGeom prst="line">
            <a:avLst/>
          </a:prstGeom>
          <a:ln w="20320">
            <a:solidFill>
              <a:srgbClr val="2F6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6648" y="4553712"/>
            <a:ext cx="0" cy="201168"/>
          </a:xfrm>
          <a:prstGeom prst="line">
            <a:avLst/>
          </a:prstGeom>
          <a:ln w="20320">
            <a:solidFill>
              <a:srgbClr val="0C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756648" y="4658868"/>
            <a:ext cx="50292" cy="96012"/>
          </a:xfrm>
          <a:prstGeom prst="line">
            <a:avLst/>
          </a:prstGeom>
          <a:ln w="20320">
            <a:solidFill>
              <a:srgbClr val="0C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06356" y="4658868"/>
            <a:ext cx="50292" cy="96012"/>
          </a:xfrm>
          <a:prstGeom prst="line">
            <a:avLst/>
          </a:prstGeom>
          <a:ln w="20320">
            <a:solidFill>
              <a:srgbClr val="0C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22376" y="4791456"/>
            <a:ext cx="10735056" cy="566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19472"/>
            <a:ext cx="103692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3213A"/>
                </a:solidFill>
                <a:latin typeface="Noto Sans CJK SC"/>
              </a:rPr>
              <a:t>Draft(g_t, eating)  →  a_(t+1)  →  共享 LM Head  →  候选 x_(t+2) = “pizza”</a:t>
            </a:r>
            <a:endParaRPr sz="1650" b="1">
              <a:solidFill>
                <a:srgbClr val="13213A"/>
              </a:solidFill>
              <a:latin typeface="Noto Sans CJK SC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22376" y="5541264"/>
            <a:ext cx="10735056" cy="585216"/>
          </a:xfrm>
          <a:prstGeom prst="roundRect">
            <a:avLst>
              <a:gd name="adj" fmla="val 13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5641848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92B45"/>
                </a:solidFill>
                <a:latin typeface="Noto Sans CJK SC"/>
              </a:rPr>
              <a:t>关键：EAGLE-1 主要使用单层 Feature；EAGLE-3 引入多层融合，但仍用 shifted Token 确定所走分支。</a:t>
            </a:r>
            <a:endParaRPr sz="1350" b="1">
              <a:solidFill>
                <a:srgbClr val="192B45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 · 同条件对比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三代同场景对比：候选选得更准，模型本身也更会预测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EAGLE-3 论文 Table 1 的同一实验设置：Vicuna 13B / MT-bench / Temperature = 0。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 (NeurIPS 2025) Table 1; 统一相对于标准 AR Decode 的加速比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892808"/>
            <a:ext cx="5303520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Latency Speedup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2104" y="256032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71216" y="2551176"/>
            <a:ext cx="2442271" cy="420624"/>
          </a:xfrm>
          <a:prstGeom prst="roundRect">
            <a:avLst>
              <a:gd name="adj" fmla="val 30435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927" y="2542032"/>
            <a:ext cx="106984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3.07×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" y="3529584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71216" y="3520440"/>
            <a:ext cx="3388949" cy="420624"/>
          </a:xfrm>
          <a:prstGeom prst="roundRect">
            <a:avLst>
              <a:gd name="adj" fmla="val 30435"/>
            </a:avLst>
          </a:prstGeom>
          <a:solidFill>
            <a:srgbClr val="0C9488"/>
          </a:solidFill>
          <a:ln w="10160">
            <a:solidFill>
              <a:srgbClr val="0C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605" y="3511296"/>
            <a:ext cx="106984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4.26×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" y="4498848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71216" y="4489704"/>
            <a:ext cx="4439046" cy="420624"/>
          </a:xfrm>
          <a:prstGeom prst="roundRect">
            <a:avLst>
              <a:gd name="adj" fmla="val 30435"/>
            </a:avLst>
          </a:prstGeom>
          <a:solidFill>
            <a:srgbClr val="D88D2B"/>
          </a:solidFill>
          <a:ln w="10160">
            <a:solidFill>
              <a:srgbClr val="D88D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1702" y="4480560"/>
            <a:ext cx="106984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5.58×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" y="5687568"/>
            <a:ext cx="10515600" cy="365760"/>
          </a:xfrm>
          <a:prstGeom prst="roundRect">
            <a:avLst>
              <a:gd name="adj" fmla="val 35000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5733288"/>
            <a:ext cx="102595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同一表格的数据可直接比较；但平均接受长度 τ 增大并不保证时延按同一比例下降。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8412480" y="2020824"/>
            <a:ext cx="2770632" cy="3273552"/>
          </a:xfrm>
          <a:prstGeom prst="roundRect">
            <a:avLst>
              <a:gd name="adj" fmla="val 462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86216" y="2331720"/>
            <a:ext cx="241401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4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平均接受长度 τ</a:t>
            </a:r>
            <a:endParaRPr lang="en-US" sz="1740" dirty="0"/>
          </a:p>
        </p:txBody>
      </p:sp>
      <p:sp>
        <p:nvSpPr>
          <p:cNvPr id="23" name="Shape 21"/>
          <p:cNvSpPr/>
          <p:nvPr/>
        </p:nvSpPr>
        <p:spPr>
          <a:xfrm>
            <a:off x="8641080" y="3072384"/>
            <a:ext cx="2322576" cy="484632"/>
          </a:xfrm>
          <a:prstGeom prst="roundRect">
            <a:avLst>
              <a:gd name="adj" fmla="val 26415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154680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9966960" y="314553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3.98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641080" y="3721608"/>
            <a:ext cx="2322576" cy="484632"/>
          </a:xfrm>
          <a:prstGeom prst="roundRect">
            <a:avLst>
              <a:gd name="adj" fmla="val 26415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3803904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9966960" y="379476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4.83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641080" y="4370832"/>
            <a:ext cx="2322576" cy="484632"/>
          </a:xfrm>
          <a:prstGeom prst="roundRect">
            <a:avLst>
              <a:gd name="adj" fmla="val 26415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4453128"/>
            <a:ext cx="121615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9966960" y="444398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6.65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40000"/>
            </a:avLst>
          </a:prstGeom>
          <a:solidFill>
            <a:srgbClr val="2F67E8"/>
          </a:solidFill>
          <a:ln w="10160">
            <a:solidFill>
              <a:srgbClr val="2F6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34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30936"/>
            <a:ext cx="1115568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321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把三代串起来：它们分别动了推测解码的哪一环？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只需记住三个动词：预测、选择、训练。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548640" y="6391656"/>
            <a:ext cx="11082528" cy="0"/>
          </a:xfrm>
          <a:prstGeom prst="line">
            <a:avLst/>
          </a:prstGeom>
          <a:noFill/>
          <a:ln w="1143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 ICML 2024 / EAGLE-2 EMNLP 2024 / EAGLE-3 NeurIPS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55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810512"/>
            <a:ext cx="3520440" cy="3502152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075688"/>
            <a:ext cx="969264" cy="384048"/>
          </a:xfrm>
          <a:prstGeom prst="roundRect">
            <a:avLst>
              <a:gd name="adj" fmla="val 33333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75688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14400" y="2679192"/>
            <a:ext cx="301752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3346704"/>
            <a:ext cx="301752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+ shifted Token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4078224"/>
            <a:ext cx="3008376" cy="0"/>
          </a:xfrm>
          <a:prstGeom prst="line">
            <a:avLst/>
          </a:prstGeom>
          <a:noFill/>
          <a:ln w="12065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251960"/>
            <a:ext cx="3026664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 Draft 连续产生候选；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Attention 验证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17136" y="1810512"/>
            <a:ext cx="3520440" cy="3502152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8304" y="2075688"/>
            <a:ext cx="969264" cy="384048"/>
          </a:xfrm>
          <a:prstGeom prst="roundRect">
            <a:avLst>
              <a:gd name="adj" fmla="val 33333"/>
            </a:avLst>
          </a:prstGeom>
          <a:solidFill>
            <a:srgbClr val="E5F7F3"/>
          </a:solidFill>
          <a:ln w="10160">
            <a:solidFill>
              <a:srgbClr val="E5F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075688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736592" y="2679192"/>
            <a:ext cx="301752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C94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EAGLE-2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736592" y="3346704"/>
            <a:ext cx="301752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+ Expansion + Reranking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736592" y="4078224"/>
            <a:ext cx="3008376" cy="0"/>
          </a:xfrm>
          <a:prstGeom prst="line">
            <a:avLst/>
          </a:prstGeom>
          <a:noFill/>
          <a:ln w="12065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4251960"/>
            <a:ext cx="3026664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从固定树变为动态树；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让预算给更有价值的分支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39328" y="1810512"/>
            <a:ext cx="3520440" cy="3502152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075688"/>
            <a:ext cx="969264" cy="384048"/>
          </a:xfrm>
          <a:prstGeom prst="roundRect">
            <a:avLst>
              <a:gd name="adj" fmla="val 33333"/>
            </a:avLst>
          </a:prstGeom>
          <a:solidFill>
            <a:srgbClr val="FFF2D9"/>
          </a:solidFill>
          <a:ln w="10160">
            <a:solidFill>
              <a:srgbClr val="FFF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075688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558784" y="2679192"/>
            <a:ext cx="301752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88D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EAGLE-3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558784" y="3346704"/>
            <a:ext cx="301752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92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Loss + TTT + 融合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558784" y="4078224"/>
            <a:ext cx="3008376" cy="0"/>
          </a:xfrm>
          <a:prstGeom prst="line">
            <a:avLst/>
          </a:prstGeom>
          <a:noFill/>
          <a:ln w="12065">
            <a:solidFill>
              <a:srgbClr val="DD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928" y="4251960"/>
            <a:ext cx="3026664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不再强制回归真实 Feature；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272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训练时模拟连续自预测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6112" y="5550408"/>
            <a:ext cx="10369296" cy="475488"/>
          </a:xfrm>
          <a:prstGeom prst="roundRect">
            <a:avLst>
              <a:gd name="adj" fmla="val 26923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5623560"/>
            <a:ext cx="101955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2F6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本质目标始终没变：降低 Draft/Verify 成本，提升一次 Target Forward 的有效 Token 收益。</a:t>
            </a:r>
            <a:endParaRPr lang="en-US" sz="14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2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3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4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5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6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7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8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9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0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1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2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3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4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5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6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7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8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19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ags/tag20.xml><?xml version="1.0" encoding="utf-8"?>
<p:tagLst xmlns:p="http://schemas.openxmlformats.org/presentationml/2006/main">
  <p:tag name="KSO_WM_DIAGRAM_VIRTUALLY_FRAME" val="{&quot;height&quot;:265.83970177501044,&quot;left&quot;:268.56,&quot;top&quot;:175.52029822498963,&quot;width&quot;:422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8243</Words>
  <Application>WPS 演示</Application>
  <PresentationFormat>On-screen Show (16:9)</PresentationFormat>
  <Paragraphs>927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微软雅黑</vt:lpstr>
      <vt:lpstr>Arial Unicode MS</vt:lpstr>
      <vt:lpstr>Noto Sans CJK SC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 1→2→3：从Feature预测到动态树与Training-Time Test</dc:title>
  <dc:creator>ChatGPT</dc:creator>
  <dc:subject>EAGLE 1/2/3 group meeting deep technical walkthrough</dc:subject>
  <cp:lastModifiedBy>。。。</cp:lastModifiedBy>
  <cp:revision>3</cp:revision>
  <dcterms:created xsi:type="dcterms:W3CDTF">2026-10-12T07:04:00Z</dcterms:created>
  <dcterms:modified xsi:type="dcterms:W3CDTF">2026-10-12T08:13:37Z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1C707208DEB94F0EB353745BA87A1359_12</vt:lpwstr>
  </property>
</Properties>
</file>