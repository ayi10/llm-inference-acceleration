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这篇论文是 ACL 2026 的 HCSpec，主要研究如何进一步提升 EAGLE-3 风格推测解码的端到端效率。它的主要想法是按照推测位置采用不同复杂度的草稿模块。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先看第一个例子，草稿模型输出“今天天气很好”，假设第三个词“很”验证没通过，那么后面的“好”和句号不能直接沿这一条链被接受。再看第二个例子，即便假设每个位置的条件接受概率都同为 80%，连续通过 1 到 5 个 Token 的概率也会从 80% 下降到 32.77%。而越晚的位置，剩余可贡献的接受长度也更短。因此前面的准确率更重要，后面更应该省计算。这里的80%是假设值，不是论文测量数据。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整体流程先利用 Target Model 多层隐藏特征，经过归一化和全连接投影得到初始 Feature。然后进行连续草稿预测，不同位置由不同模块承担。以前八步为例，前四步用高精度的双层 M_H，后四步用单层 M_L。产生的候选组织成树，最后由 Target Model 通过 Tree Attention 一次并行验证。注意 M_H 和 M_L 是按草稿位置切换的，不是每一个 Token 都经过两套模块。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为了理解 HCSpec 先明确什么是 Transformer Block。一般一个 Block 就相当于一层 Transformer，里面有 Self-Attention 和前馈网络 FFN。HCSpec 高精度模块 M_H 并不是把原来30层 Target Model变成60层，而是在独立的 Draft 结构中堆叠两个 Block。第二个 Block 的 FFN 输出投影扩为两倍隐藏维度。比如原来是10维，这里输出20维，前10维专门作为下轮 Feature，后10维送往 LM Head 预测 Token。实际维度与模型有关，这里只是教学例子。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这页用一份与两份 Feature 的对比解释 HCSpec 的双路径设计。左边是只用一份 Feature：同一个 f 既要送到 LM Head 预测当前 Token（示例“天气”），又要用于下一轮自回归预测“很”。这两种目标存在潜在冲突：分类需要有利于当前词的分辨性信息，而未来递归需要保留足够丰富的上下文，两者可能相互干扰，但并不表示单 f 一定会预测错误。右边是 M_H 的双路径：将第二个 Transformer Block 的 FFN 输出扩展为 2h 维，一半作为 f_logit 预测当前 Token，另一半作为 f_future 传播给下一轮，减少目标干扰。论文 Table 3 有实证：Qwen2.5-7B、MT-Bench、batch=1、temperature=0，去掉辅助 Feature 的 w/o aux 消融平均接受长度 5.48，加速比 3.09 倍；保留双路径后分别为 5.83 和 3.18 倍。因此强模型前段优先使用双 f。但后期收益递减，HCSpec 的轻量级 M_L 为了减少开销仍采用单 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另一部分 M_L 更简单，它只有一个完整 Transformer Block，共享同一隐藏输出用于 Token 预测和未来递归。论文还使用了两套 Attention 参数路径，Attn1.5 和 Attn2，这是为了适配两种输入来源；它们并不是堆叠了两个完整 Transformer Layer。什么时候用哪个模块呢？如果 Draft 长度至少5步，通常前半用 M_H、后半用 M_L。长度不足5步时，第一步用 M_H，之后使用 M_L。这里用 L=8 的例子展示。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实验比较的是 EAGLE-3 和 HCSpec，在 Llama3.1-8B 上，Batch 1 的平均加速比分别是2.74倍和3.14倍，Batch 32 时分别是1.68倍和1.81倍；两者都是相对于普通自回归解码。另外 HumanEval 的单任务结果最高达到3.72倍。最值得注意的是 Batch32 时平均接受长度由3.41稍微下降到3.36，但端到端速度反而更高了。这就体现了 HCSpec：不仅关注接受几个Token，还要控制每次 Draft 的计算开销。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最后总结，HCSpec 的创新有两点：一是根据预测位置使用不同复杂度的两个 Draft 模块，二是在高精度模块里分开当前 Token 预测和未来 Feature 传播。它留下了一个可研究问题：模块切换位置目前是预先设置的，能不能结合实时收益和计算成本进一步优化？一句话，推测解码的最终目标不是越多Token被接受越好，而是端到端推理速度更高。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3"/>
          </a:solidFill>
          <a:ln w="10160">
            <a:solidFill>
              <a:srgbClr val="101C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67512"/>
            <a:ext cx="1325880" cy="365760"/>
          </a:xfrm>
          <a:prstGeom prst="roundRect">
            <a:avLst>
              <a:gd name="adj" fmla="val 35000"/>
            </a:avLst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713232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10698480" cy="1216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1033272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C8D9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Two-Tier Horizontal Cascade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3072384"/>
            <a:ext cx="1033272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C8D9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Speculative Decoding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04088" y="3840480"/>
            <a:ext cx="10378440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E9ED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基于两级水平级联的高效推测解码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305BC3"/>
          </a:solidFill>
          <a:ln w="10160">
            <a:solidFill>
              <a:srgbClr val="305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305BC3"/>
          </a:solidFill>
          <a:ln w="10160">
            <a:solidFill>
              <a:srgbClr val="305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305BC3"/>
          </a:solidFill>
          <a:ln w="10160">
            <a:solidFill>
              <a:srgbClr val="305B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9624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305BC3"/>
          </a:solidFill>
          <a:ln w="10160">
            <a:solidFill>
              <a:srgbClr val="305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82896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137B70"/>
          </a:solidFill>
          <a:ln w="10160">
            <a:solidFill>
              <a:srgbClr val="137B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16168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137B70"/>
          </a:solidFill>
          <a:ln w="10160">
            <a:solidFill>
              <a:srgbClr val="137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137B70"/>
          </a:solidFill>
          <a:ln w="10160">
            <a:solidFill>
              <a:srgbClr val="137B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82712" y="4855464"/>
            <a:ext cx="859536" cy="512064"/>
          </a:xfrm>
          <a:prstGeom prst="roundRect">
            <a:avLst>
              <a:gd name="adj" fmla="val 21429"/>
            </a:avLst>
          </a:prstGeom>
          <a:solidFill>
            <a:srgbClr val="137B70"/>
          </a:solidFill>
          <a:ln w="10160">
            <a:solidFill>
              <a:srgbClr val="137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0144" y="4965192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555040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EB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High-accuracy  ·  M_H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55504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1E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Lightweight  ·  M_L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" y="6181344"/>
            <a:ext cx="1078992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A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Yizhou Zhang · Siming Chen · Hao Ye · Erhu Feng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研究动机｜为什么前面的 Token 更重要？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动机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25272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例子①：一条候选链，在第 3 个 Token 被拒绝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554480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8562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2551176"/>
            <a:ext cx="17739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接受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530352" cy="0"/>
          </a:xfrm>
          <a:prstGeom prst="line">
            <a:avLst/>
          </a:prstGeom>
          <a:noFill/>
          <a:ln w="21590">
            <a:solidFill>
              <a:srgbClr val="DCE5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7520" y="1737360"/>
            <a:ext cx="1554480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8562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天气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07792" y="2551176"/>
            <a:ext cx="17739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接受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5152" y="2066544"/>
            <a:ext cx="530352" cy="0"/>
          </a:xfrm>
          <a:prstGeom prst="line">
            <a:avLst/>
          </a:prstGeom>
          <a:noFill/>
          <a:ln w="21590">
            <a:solidFill>
              <a:srgbClr val="DCE5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66944" y="1737360"/>
            <a:ext cx="1554480" cy="676656"/>
          </a:xfrm>
          <a:prstGeom prst="roundRect">
            <a:avLst>
              <a:gd name="adj" fmla="val 22973"/>
            </a:avLst>
          </a:prstGeom>
          <a:solidFill>
            <a:srgbClr val="FEEDF0"/>
          </a:solidFill>
          <a:ln w="10160">
            <a:solidFill>
              <a:srgbClr val="FEED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8562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45C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157216" y="2551176"/>
            <a:ext cx="17739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45C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拒绝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94576" y="2066544"/>
            <a:ext cx="530352" cy="0"/>
          </a:xfrm>
          <a:prstGeom prst="line">
            <a:avLst/>
          </a:prstGeom>
          <a:noFill/>
          <a:ln w="21590">
            <a:solidFill>
              <a:srgbClr val="C7C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16368" y="1737360"/>
            <a:ext cx="1554480" cy="676656"/>
          </a:xfrm>
          <a:prstGeom prst="roundRect">
            <a:avLst>
              <a:gd name="adj" fmla="val 22973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8562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794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06640" y="2551176"/>
            <a:ext cx="17739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不再沿此链接受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2066544"/>
            <a:ext cx="530352" cy="0"/>
          </a:xfrm>
          <a:prstGeom prst="line">
            <a:avLst/>
          </a:prstGeom>
          <a:noFill/>
          <a:ln w="21590">
            <a:solidFill>
              <a:srgbClr val="C7CE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65792" y="1737360"/>
            <a:ext cx="1554480" cy="676656"/>
          </a:xfrm>
          <a:prstGeom prst="roundRect">
            <a:avLst>
              <a:gd name="adj" fmla="val 22973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5792" y="18562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794A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656064" y="2551176"/>
            <a:ext cx="17739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不再沿此链接受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2999232"/>
            <a:ext cx="10945368" cy="429768"/>
          </a:xfrm>
          <a:prstGeom prst="roundRect">
            <a:avLst>
              <a:gd name="adj" fmla="val 36170"/>
            </a:avLst>
          </a:prstGeom>
          <a:solidFill>
            <a:srgbClr val="FEEDF0"/>
          </a:solidFill>
          <a:ln w="10160">
            <a:solidFill>
              <a:srgbClr val="FEE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063240"/>
            <a:ext cx="104607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5C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前面某个 Token 没通过验证，后面预测得再准确，也无法沿这条链直接继续接受。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" y="3739896"/>
            <a:ext cx="10607040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例子②：假设沿候选链每一步的条件接受概率都是 80%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" y="42245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连续通过 1 个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" y="4599432"/>
            <a:ext cx="1965960" cy="246888"/>
          </a:xfrm>
          <a:prstGeom prst="roundRect">
            <a:avLst>
              <a:gd name="adj" fmla="val 25926"/>
            </a:avLst>
          </a:prstGeom>
          <a:solidFill>
            <a:srgbClr val="E5EAF2"/>
          </a:solidFill>
          <a:ln w="10160">
            <a:solidFill>
              <a:srgbClr val="E5EA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599432"/>
            <a:ext cx="1572768" cy="246888"/>
          </a:xfrm>
          <a:prstGeom prst="roundRect">
            <a:avLst>
              <a:gd name="adj" fmla="val 25926"/>
            </a:avLst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965192"/>
            <a:ext cx="19659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2962656" y="42245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连续通过 2 个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962656" y="4599432"/>
            <a:ext cx="1965960" cy="246888"/>
          </a:xfrm>
          <a:prstGeom prst="roundRect">
            <a:avLst>
              <a:gd name="adj" fmla="val 25926"/>
            </a:avLst>
          </a:prstGeom>
          <a:solidFill>
            <a:srgbClr val="E5EAF2"/>
          </a:solidFill>
          <a:ln w="10160">
            <a:solidFill>
              <a:srgbClr val="E5EA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62656" y="4599432"/>
            <a:ext cx="1258214" cy="246888"/>
          </a:xfrm>
          <a:prstGeom prst="roundRect">
            <a:avLst>
              <a:gd name="adj" fmla="val 25926"/>
            </a:avLst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62656" y="4965192"/>
            <a:ext cx="19659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64%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5212080" y="42245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连续通过 3 个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212080" y="4599432"/>
            <a:ext cx="1965960" cy="246888"/>
          </a:xfrm>
          <a:prstGeom prst="roundRect">
            <a:avLst>
              <a:gd name="adj" fmla="val 25926"/>
            </a:avLst>
          </a:prstGeom>
          <a:solidFill>
            <a:srgbClr val="E5EAF2"/>
          </a:solidFill>
          <a:ln w="10160">
            <a:solidFill>
              <a:srgbClr val="E5EA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4599432"/>
            <a:ext cx="1006572" cy="246888"/>
          </a:xfrm>
          <a:prstGeom prst="roundRect">
            <a:avLst>
              <a:gd name="adj" fmla="val 25926"/>
            </a:avLst>
          </a:prstGeom>
          <a:solidFill>
            <a:srgbClr val="14977F"/>
          </a:solidFill>
          <a:ln w="10160">
            <a:solidFill>
              <a:srgbClr val="1497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4965192"/>
            <a:ext cx="19659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51.2%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7461504" y="42245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连续通过 4 个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461504" y="4599432"/>
            <a:ext cx="1965960" cy="246888"/>
          </a:xfrm>
          <a:prstGeom prst="roundRect">
            <a:avLst>
              <a:gd name="adj" fmla="val 25926"/>
            </a:avLst>
          </a:prstGeom>
          <a:solidFill>
            <a:srgbClr val="E5EAF2"/>
          </a:solidFill>
          <a:ln w="10160">
            <a:solidFill>
              <a:srgbClr val="E5EA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61504" y="4599432"/>
            <a:ext cx="805257" cy="246888"/>
          </a:xfrm>
          <a:prstGeom prst="roundRect">
            <a:avLst>
              <a:gd name="adj" fmla="val 25926"/>
            </a:avLst>
          </a:prstGeom>
          <a:solidFill>
            <a:srgbClr val="14977F"/>
          </a:solidFill>
          <a:ln w="10160">
            <a:solidFill>
              <a:srgbClr val="14977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61504" y="4965192"/>
            <a:ext cx="19659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40.96%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710928" y="42245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连续通过 5 个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710928" y="4599432"/>
            <a:ext cx="1965960" cy="246888"/>
          </a:xfrm>
          <a:prstGeom prst="roundRect">
            <a:avLst>
              <a:gd name="adj" fmla="val 25926"/>
            </a:avLst>
          </a:prstGeom>
          <a:solidFill>
            <a:srgbClr val="E5EAF2"/>
          </a:solidFill>
          <a:ln w="10160">
            <a:solidFill>
              <a:srgbClr val="E5EA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10928" y="4599432"/>
            <a:ext cx="644245" cy="246888"/>
          </a:xfrm>
          <a:prstGeom prst="roundRect">
            <a:avLst>
              <a:gd name="adj" fmla="val 25926"/>
            </a:avLst>
          </a:prstGeom>
          <a:solidFill>
            <a:srgbClr val="14977F"/>
          </a:solidFill>
          <a:ln w="10160">
            <a:solidFill>
              <a:srgbClr val="1497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10928" y="4965192"/>
            <a:ext cx="19659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32.77%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658368" y="5687568"/>
            <a:ext cx="10927080" cy="502920"/>
          </a:xfrm>
          <a:prstGeom prst="roundRect">
            <a:avLst>
              <a:gd name="adj" fmla="val 30909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7824" y="5797296"/>
            <a:ext cx="10460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即使单步接受概率不变，越往后能继续贡献的接受链越短；因此：前期重准确率，后期重效率。</a:t>
            </a:r>
            <a:endParaRPr lang="en-US" sz="13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整体架构｜前半段用强模型，后半段用轻模型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总体架构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271016"/>
            <a:ext cx="10844784" cy="1005840"/>
          </a:xfrm>
          <a:prstGeom prst="roundRect">
            <a:avLst>
              <a:gd name="adj" fmla="val 15455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63040"/>
            <a:ext cx="103418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Target Model  提取多层 Hidden States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892808"/>
            <a:ext cx="103327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Low · Mid · High  →  Concat + LayerNorm + FC  →  初始 Feature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099048" y="2313432"/>
            <a:ext cx="0" cy="301752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" y="2734056"/>
            <a:ext cx="5056632" cy="1115568"/>
          </a:xfrm>
          <a:prstGeom prst="roundRect">
            <a:avLst>
              <a:gd name="adj" fmla="val 13934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898648"/>
            <a:ext cx="470916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M_H：高精度 Draft 模块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77824" y="3419856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个 Transformer Block · 双路径 Feature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28232" y="2734056"/>
            <a:ext cx="5056632" cy="1115568"/>
          </a:xfrm>
          <a:prstGeom prst="roundRect">
            <a:avLst>
              <a:gd name="adj" fmla="val 13934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98648"/>
            <a:ext cx="4700016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M_L：轻量 Draft 模块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83680" y="3419856"/>
            <a:ext cx="47000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个 Transformer Block · 低计算开销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42519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以一次 Draft 做 8 步为例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80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396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671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671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112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387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828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03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544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5 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19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60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 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535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976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251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7 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251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369296" y="4745736"/>
            <a:ext cx="1207008" cy="676656"/>
          </a:xfrm>
          <a:prstGeom prst="roundRect">
            <a:avLst>
              <a:gd name="adj" fmla="val 2297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96728" y="4809744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8 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396728" y="5111496"/>
            <a:ext cx="1152144" cy="192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4088" y="5733288"/>
            <a:ext cx="10789920" cy="429768"/>
          </a:xfrm>
          <a:prstGeom prst="roundRect">
            <a:avLst>
              <a:gd name="adj" fmla="val 36170"/>
            </a:avLst>
          </a:prstGeom>
          <a:solidFill>
            <a:srgbClr val="172544"/>
          </a:solidFill>
          <a:ln w="10160">
            <a:solidFill>
              <a:srgbClr val="1725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815584"/>
            <a:ext cx="104424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 Token 树  →  Target Model 使用 Tree Attention 并行验证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核心方法①｜Transformer Block 与 M_H 双层结构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高精度模块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98448"/>
            <a:ext cx="3657600" cy="4892040"/>
          </a:xfrm>
          <a:prstGeom prst="roundRect">
            <a:avLst>
              <a:gd name="adj" fmla="val 4250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4533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 ①  一个 </a:t>
            </a:r>
            <a:r>
              <a:rPr lang="en-US" altLang="zh-CN" sz="168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EAGLE-3 </a:t>
            </a:r>
            <a:r>
              <a:rPr lang="zh-CN" altLang="en-US" sz="168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的单层 </a:t>
            </a:r>
            <a:r>
              <a:rPr lang="en-US" altLang="zh-CN" sz="168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Draft </a:t>
            </a:r>
            <a:r>
              <a:rPr lang="zh-CN" altLang="en-US" sz="168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核心结构</a:t>
            </a:r>
            <a:endParaRPr lang="zh-CN" altLang="en-US" sz="1680" b="1" dirty="0">
              <a:solidFill>
                <a:srgbClr val="1725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8992" y="2148840"/>
            <a:ext cx="2798064" cy="502920"/>
          </a:xfrm>
          <a:prstGeom prst="roundRect">
            <a:avLst>
              <a:gd name="adj" fmla="val 30909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12848"/>
            <a:ext cx="26151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Hidden State（h 维）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679192"/>
            <a:ext cx="0" cy="173736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9304" y="2935224"/>
            <a:ext cx="2377440" cy="585216"/>
          </a:xfrm>
          <a:prstGeom prst="roundRect">
            <a:avLst>
              <a:gd name="adj" fmla="val 26563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2999232"/>
            <a:ext cx="21945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Self-Attention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0744" y="3191256"/>
            <a:ext cx="21945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获取上下文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2468880" y="3557016"/>
            <a:ext cx="0" cy="192024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89304" y="3840480"/>
            <a:ext cx="2377440" cy="585216"/>
          </a:xfrm>
          <a:prstGeom prst="roundRect">
            <a:avLst>
              <a:gd name="adj" fmla="val 26563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744" y="3904488"/>
            <a:ext cx="21945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FFN / MLP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0744" y="4096512"/>
            <a:ext cx="21945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变换特征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2468880" y="4453128"/>
            <a:ext cx="0" cy="192024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78992" y="4754880"/>
            <a:ext cx="2798064" cy="548640"/>
          </a:xfrm>
          <a:prstGeom prst="roundRect">
            <a:avLst>
              <a:gd name="adj" fmla="val 28333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818888"/>
            <a:ext cx="261518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Hidden State（h 维）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5687568"/>
            <a:ext cx="31546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一个 Transformer Layer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44568" y="1298448"/>
            <a:ext cx="7004304" cy="4892040"/>
          </a:xfrm>
          <a:prstGeom prst="roundRect">
            <a:avLst>
              <a:gd name="adj" fmla="val 3178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1545336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 ②  HCSpec 的 M_H（两层堆叠）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44768" y="2029968"/>
            <a:ext cx="3803904" cy="475488"/>
          </a:xfrm>
          <a:prstGeom prst="roundRect">
            <a:avLst>
              <a:gd name="adj" fmla="val 32692"/>
            </a:avLst>
          </a:prstGeom>
          <a:solidFill>
            <a:srgbClr val="F1F5FA"/>
          </a:solidFill>
          <a:ln w="10160">
            <a:solidFill>
              <a:srgbClr val="F1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093976"/>
            <a:ext cx="362102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Feature（示例：h = 10）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6720" y="2542032"/>
            <a:ext cx="0" cy="192024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71616" y="2798064"/>
            <a:ext cx="3931920" cy="603504"/>
          </a:xfrm>
          <a:prstGeom prst="roundRect">
            <a:avLst>
              <a:gd name="adj" fmla="val 25758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862072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Transformer Block 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63056" y="3072384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Attention + FFN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8046720" y="3429000"/>
            <a:ext cx="0" cy="192024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71616" y="3685032"/>
            <a:ext cx="3931920" cy="667512"/>
          </a:xfrm>
          <a:prstGeom prst="roundRect">
            <a:avLst>
              <a:gd name="adj" fmla="val 23288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374904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Transformer Block 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63056" y="402336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Attention + 改造的 FFN → 2h = 20 维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8046720" y="4370832"/>
            <a:ext cx="0" cy="228600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599432"/>
            <a:ext cx="2871216" cy="0"/>
          </a:xfrm>
          <a:prstGeom prst="line">
            <a:avLst/>
          </a:prstGeom>
          <a:noFill/>
          <a:ln w="25400">
            <a:solidFill>
              <a:srgbClr val="6878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4599432"/>
            <a:ext cx="0" cy="182880"/>
          </a:xfrm>
          <a:prstGeom prst="line">
            <a:avLst/>
          </a:prstGeom>
          <a:noFill/>
          <a:ln w="2286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454896" y="4599432"/>
            <a:ext cx="0" cy="182880"/>
          </a:xfrm>
          <a:prstGeom prst="line">
            <a:avLst/>
          </a:prstGeom>
          <a:noFill/>
          <a:ln w="22860">
            <a:solidFill>
              <a:srgbClr val="68789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29784" y="4901184"/>
            <a:ext cx="2953512" cy="777240"/>
          </a:xfrm>
          <a:prstGeom prst="roundRect">
            <a:avLst>
              <a:gd name="adj" fmla="val 20000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1224" y="4965192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 h 维：Future Feature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21224" y="5349240"/>
            <a:ext cx="27706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传给下一步 Draft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8229600" y="4901184"/>
            <a:ext cx="2871216" cy="777240"/>
          </a:xfrm>
          <a:prstGeom prst="roundRect">
            <a:avLst>
              <a:gd name="adj" fmla="val 20000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4965192"/>
            <a:ext cx="26883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 h 维：Logit Feature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21040" y="5349240"/>
            <a:ext cx="268833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LM Head → 当前 Token</a:t>
            </a:r>
            <a:endParaRPr lang="en-US" sz="1130" dirty="0"/>
          </a:p>
        </p:txBody>
      </p:sp>
      <p:sp>
        <p:nvSpPr>
          <p:cNvPr id="45" name="Text 43"/>
          <p:cNvSpPr/>
          <p:nvPr/>
        </p:nvSpPr>
        <p:spPr>
          <a:xfrm>
            <a:off x="5047488" y="5843016"/>
            <a:ext cx="619048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示例维度 10 → 20 → 拆成两份 10；实际 hidden size 不一定是 10。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sz="2500" b="1">
                <a:solidFill>
                  <a:srgbClr val="16243D"/>
                </a:solidFill>
                <a:latin typeface="微软雅黑" panose="020B0503020204020204" pitchFamily="34" charset="-122"/>
              </a:rPr>
              <a:t>核心方法②｜为什么两份 Feature 更适合前期预测？</a:t>
            </a:r>
            <a:endParaRPr sz="250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高精度模块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08</a:t>
            </a: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676656" y="1179576"/>
            <a:ext cx="1088136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650" b="0">
                <a:solidFill>
                  <a:srgbClr val="17233C"/>
                </a:solidFill>
                <a:latin typeface="微软雅黑" panose="020B0503020204020204" pitchFamily="34" charset="-122"/>
              </a:rPr>
              <a:t>同一次 Draft：既要预测当前 Token，也要保存下一轮生成所需的上下文</a:t>
            </a:r>
            <a:endParaRPr sz="1650" b="0">
              <a:solidFill>
                <a:srgbClr val="1723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746504"/>
            <a:ext cx="5248656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2784" y="1746504"/>
            <a:ext cx="5248656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73936"/>
            <a:ext cx="519379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773936"/>
            <a:ext cx="5193792" cy="475488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37943"/>
            <a:ext cx="4974336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700" b="1">
                <a:solidFill>
                  <a:srgbClr val="16243D"/>
                </a:solidFill>
                <a:latin typeface="微软雅黑" panose="020B0503020204020204" pitchFamily="34" charset="-122"/>
              </a:rPr>
              <a:t>方案 A：只输出一份 f（共享）</a:t>
            </a:r>
            <a:endParaRPr sz="170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9944" y="1837943"/>
            <a:ext cx="4974336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700" b="1">
                <a:solidFill>
                  <a:srgbClr val="3867D3"/>
                </a:solidFill>
                <a:latin typeface="微软雅黑" panose="020B0503020204020204" pitchFamily="34" charset="-122"/>
              </a:rPr>
              <a:t>方案 B：输出两份 f（分工）</a:t>
            </a:r>
            <a:endParaRPr sz="1700" b="1">
              <a:solidFill>
                <a:srgbClr val="3867D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65376" y="2432304"/>
            <a:ext cx="2834640" cy="484632"/>
          </a:xfrm>
          <a:prstGeom prst="roundRect">
            <a:avLst>
              <a:gd name="adj" fmla="val 11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2496312"/>
            <a:ext cx="2788920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400" b="1">
                <a:solidFill>
                  <a:srgbClr val="16243D"/>
                </a:solidFill>
                <a:latin typeface="微软雅黑" panose="020B0503020204020204" pitchFamily="34" charset="-122"/>
              </a:rPr>
              <a:t>Transformer → 同一份 Feature f</a:t>
            </a:r>
            <a:endParaRPr sz="140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282696" y="2926080"/>
            <a:ext cx="0" cy="137160"/>
          </a:xfrm>
          <a:prstGeom prst="line">
            <a:avLst/>
          </a:prstGeom>
          <a:ln w="21590">
            <a:solidFill>
              <a:srgbClr val="8A9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3063240"/>
            <a:ext cx="2542032" cy="0"/>
          </a:xfrm>
          <a:prstGeom prst="line">
            <a:avLst/>
          </a:prstGeom>
          <a:ln w="21590">
            <a:solidFill>
              <a:srgbClr val="8A9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11680" y="3063240"/>
            <a:ext cx="0" cy="137160"/>
          </a:xfrm>
          <a:prstGeom prst="line">
            <a:avLst/>
          </a:prstGeom>
          <a:ln w="21590">
            <a:solidFill>
              <a:srgbClr val="8A98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53712" y="3063240"/>
            <a:ext cx="0" cy="137160"/>
          </a:xfrm>
          <a:prstGeom prst="line">
            <a:avLst/>
          </a:prstGeom>
          <a:ln w="21590">
            <a:solidFill>
              <a:srgbClr val="8A98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7" y="3255264"/>
            <a:ext cx="2286000" cy="722376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346704"/>
            <a:ext cx="219456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>
                <a:solidFill>
                  <a:srgbClr val="16243D"/>
                </a:solidFill>
                <a:latin typeface="微软雅黑" panose="020B0503020204020204" pitchFamily="34" charset="-122"/>
              </a:rPr>
              <a:t>LM Head</a:t>
            </a:r>
            <a:endParaRPr sz="150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5256" y="3621024"/>
            <a:ext cx="2157984" cy="23774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50" b="0">
                <a:solidFill>
                  <a:srgbClr val="637186"/>
                </a:solidFill>
                <a:latin typeface="微软雅黑" panose="020B0503020204020204" pitchFamily="34" charset="-122"/>
              </a:rPr>
              <a:t>当前预测「天气」</a:t>
            </a:r>
            <a:endParaRPr sz="115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38144" y="3255264"/>
            <a:ext cx="2286000" cy="722376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3863" y="3346704"/>
            <a:ext cx="219456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>
                <a:solidFill>
                  <a:srgbClr val="16243D"/>
                </a:solidFill>
                <a:latin typeface="微软雅黑" panose="020B0503020204020204" pitchFamily="34" charset="-122"/>
              </a:rPr>
              <a:t>下一轮 Draft</a:t>
            </a:r>
            <a:endParaRPr sz="150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2151" y="3621024"/>
            <a:ext cx="2157984" cy="23774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50" b="0">
                <a:solidFill>
                  <a:srgbClr val="637186"/>
                </a:solidFill>
                <a:latin typeface="微软雅黑" panose="020B0503020204020204" pitchFamily="34" charset="-122"/>
              </a:rPr>
              <a:t>希望继续预测「很」</a:t>
            </a:r>
            <a:endParaRPr sz="115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9536" y="4151376"/>
            <a:ext cx="4855464" cy="630936"/>
          </a:xfrm>
          <a:prstGeom prst="roundRect">
            <a:avLst>
              <a:gd name="adj" fmla="val 10000"/>
            </a:avLst>
          </a:prstGeom>
          <a:solidFill>
            <a:srgbClr val="FF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224528"/>
            <a:ext cx="4700016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80" b="1">
                <a:solidFill>
                  <a:srgbClr val="A85345"/>
                </a:solidFill>
                <a:latin typeface="微软雅黑" panose="020B0503020204020204" pitchFamily="34" charset="-122"/>
              </a:rPr>
              <a:t>潜在冲突：同一份 f 既要方便“当前分类”，又要保留“未来上下文”，两种目标可能互相干扰。</a:t>
            </a:r>
            <a:endParaRPr sz="1280" b="1">
              <a:solidFill>
                <a:srgbClr val="A8534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0" y="2432304"/>
            <a:ext cx="2788920" cy="484632"/>
          </a:xfrm>
          <a:prstGeom prst="roundRect">
            <a:avLst>
              <a:gd name="adj" fmla="val 11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496312"/>
            <a:ext cx="2752344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400" b="1">
                <a:solidFill>
                  <a:srgbClr val="3867D3"/>
                </a:solidFill>
                <a:latin typeface="微软雅黑" panose="020B0503020204020204" pitchFamily="34" charset="-122"/>
              </a:rPr>
              <a:t>M_H：第 2 个 Block 输出 2h</a:t>
            </a:r>
            <a:endParaRPr sz="1400" b="1">
              <a:solidFill>
                <a:srgbClr val="3867D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897112" y="2926080"/>
            <a:ext cx="0" cy="137160"/>
          </a:xfrm>
          <a:prstGeom prst="line">
            <a:avLst/>
          </a:prstGeom>
          <a:ln w="21590">
            <a:solidFill>
              <a:srgbClr val="38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26096" y="3063240"/>
            <a:ext cx="2542032" cy="0"/>
          </a:xfrm>
          <a:prstGeom prst="line">
            <a:avLst/>
          </a:prstGeom>
          <a:ln w="21590">
            <a:solidFill>
              <a:srgbClr val="38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26096" y="3063240"/>
            <a:ext cx="0" cy="137160"/>
          </a:xfrm>
          <a:prstGeom prst="line">
            <a:avLst/>
          </a:prstGeom>
          <a:ln w="21590">
            <a:solidFill>
              <a:srgbClr val="3867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68128" y="3063240"/>
            <a:ext cx="0" cy="137160"/>
          </a:xfrm>
          <a:prstGeom prst="line">
            <a:avLst/>
          </a:prstGeom>
          <a:ln w="21590">
            <a:solidFill>
              <a:srgbClr val="1686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55664" y="3255264"/>
            <a:ext cx="2286000" cy="722376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3346704"/>
            <a:ext cx="219456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>
                <a:solidFill>
                  <a:srgbClr val="3867D3"/>
                </a:solidFill>
                <a:latin typeface="微软雅黑" panose="020B0503020204020204" pitchFamily="34" charset="-122"/>
              </a:rPr>
              <a:t>f_logit</a:t>
            </a:r>
            <a:endParaRPr sz="1500" b="1">
              <a:solidFill>
                <a:srgbClr val="3867D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9672" y="3621024"/>
            <a:ext cx="2157984" cy="23774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50" b="0">
                <a:solidFill>
                  <a:srgbClr val="637186"/>
                </a:solidFill>
                <a:latin typeface="微软雅黑" panose="020B0503020204020204" pitchFamily="34" charset="-122"/>
              </a:rPr>
              <a:t>LM Head →「天气」</a:t>
            </a:r>
            <a:endParaRPr sz="115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052560" y="3255264"/>
            <a:ext cx="2286000" cy="722376"/>
          </a:xfrm>
          <a:prstGeom prst="roundRect">
            <a:avLst>
              <a:gd name="adj" fmla="val 12000"/>
            </a:avLst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346704"/>
            <a:ext cx="219456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>
                <a:solidFill>
                  <a:srgbClr val="16866B"/>
                </a:solidFill>
                <a:latin typeface="微软雅黑" panose="020B0503020204020204" pitchFamily="34" charset="-122"/>
              </a:rPr>
              <a:t>f_future</a:t>
            </a:r>
            <a:endParaRPr sz="1500" b="1">
              <a:solidFill>
                <a:srgbClr val="16866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16568" y="3621024"/>
            <a:ext cx="2157984" cy="23774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50" b="0">
                <a:solidFill>
                  <a:srgbClr val="637186"/>
                </a:solidFill>
                <a:latin typeface="微软雅黑" panose="020B0503020204020204" pitchFamily="34" charset="-122"/>
              </a:rPr>
              <a:t>下一轮 →「很」</a:t>
            </a:r>
            <a:endParaRPr sz="115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73952" y="4151376"/>
            <a:ext cx="4855464" cy="630936"/>
          </a:xfrm>
          <a:prstGeom prst="roundRect">
            <a:avLst>
              <a:gd name="adj" fmla="val 10000"/>
            </a:avLst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4" y="4224528"/>
            <a:ext cx="4690872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80" b="1">
                <a:solidFill>
                  <a:srgbClr val="16866B"/>
                </a:solidFill>
                <a:latin typeface="微软雅黑" panose="020B0503020204020204" pitchFamily="34" charset="-122"/>
              </a:rPr>
              <a:t>设计优势：当前 Token 分类与后续递归各用一份特征，减少表示冲突，提高前期接受率。</a:t>
            </a:r>
            <a:endParaRPr sz="1280" b="1">
              <a:solidFill>
                <a:srgbClr val="16866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8368" y="5175504"/>
            <a:ext cx="10863072" cy="1124712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239512"/>
            <a:ext cx="6949440" cy="28346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420" b="1">
                <a:solidFill>
                  <a:srgbClr val="16243D"/>
                </a:solidFill>
                <a:latin typeface="微软雅黑" panose="020B0503020204020204" pitchFamily="34" charset="-122"/>
              </a:rPr>
              <a:t>论文消融 · Qwen2.5-7B / MT-Bench / Batch=1 / T=0</a:t>
            </a:r>
            <a:endParaRPr sz="142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88352" y="5266944"/>
            <a:ext cx="3858768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1140" b="0">
                <a:solidFill>
                  <a:srgbClr val="637186"/>
                </a:solidFill>
                <a:latin typeface="微软雅黑" panose="020B0503020204020204" pitchFamily="34" charset="-122"/>
              </a:rPr>
              <a:t>去掉辅助 Feature（单 f）  →  保留双路径（双 f）</a:t>
            </a:r>
            <a:endParaRPr sz="114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896112" y="5586984"/>
            <a:ext cx="10369296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50976" y="5742432"/>
            <a:ext cx="1792224" cy="26517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60" b="1">
                <a:solidFill>
                  <a:srgbClr val="16243D"/>
                </a:solidFill>
                <a:latin typeface="微软雅黑" panose="020B0503020204020204" pitchFamily="34" charset="-122"/>
              </a:rPr>
              <a:t>平均接受长度</a:t>
            </a:r>
            <a:endParaRPr sz="136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61488" y="5687568"/>
            <a:ext cx="841248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>
                <a:solidFill>
                  <a:srgbClr val="637186"/>
                </a:solidFill>
                <a:latin typeface="微软雅黑" panose="020B0503020204020204" pitchFamily="34" charset="-122"/>
              </a:rPr>
              <a:t>5.48</a:t>
            </a:r>
            <a:endParaRPr sz="1900" b="1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48456" y="5687568"/>
            <a:ext cx="329184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000" b="1">
                <a:solidFill>
                  <a:srgbClr val="3867D3"/>
                </a:solidFill>
                <a:latin typeface="微软雅黑" panose="020B0503020204020204" pitchFamily="34" charset="-122"/>
              </a:rPr>
              <a:t>→</a:t>
            </a:r>
            <a:endParaRPr sz="2000" b="1">
              <a:solidFill>
                <a:srgbClr val="3867D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50791" y="5687568"/>
            <a:ext cx="923544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>
                <a:solidFill>
                  <a:srgbClr val="16866B"/>
                </a:solidFill>
                <a:latin typeface="微软雅黑" panose="020B0503020204020204" pitchFamily="34" charset="-122"/>
              </a:rPr>
              <a:t>5.83</a:t>
            </a:r>
            <a:endParaRPr sz="1900" b="1">
              <a:solidFill>
                <a:srgbClr val="16866B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5715000" y="5669280"/>
            <a:ext cx="0" cy="45720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61888" y="5742432"/>
            <a:ext cx="1847088" cy="26517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60" b="1">
                <a:solidFill>
                  <a:srgbClr val="16243D"/>
                </a:solidFill>
                <a:latin typeface="微软雅黑" panose="020B0503020204020204" pitchFamily="34" charset="-122"/>
              </a:rPr>
              <a:t>端到端加速比</a:t>
            </a:r>
            <a:endParaRPr sz="1360" b="1">
              <a:solidFill>
                <a:srgbClr val="1624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27848" y="5687568"/>
            <a:ext cx="932688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>
                <a:solidFill>
                  <a:srgbClr val="637186"/>
                </a:solidFill>
                <a:latin typeface="微软雅黑" panose="020B0503020204020204" pitchFamily="34" charset="-122"/>
              </a:rPr>
              <a:t>3.09×</a:t>
            </a:r>
            <a:endParaRPr sz="1900" b="1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78824" y="5687568"/>
            <a:ext cx="329184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000" b="1">
                <a:solidFill>
                  <a:srgbClr val="3867D3"/>
                </a:solidFill>
                <a:latin typeface="微软雅黑" panose="020B0503020204020204" pitchFamily="34" charset="-122"/>
              </a:rPr>
              <a:t>→</a:t>
            </a:r>
            <a:endParaRPr sz="2000" b="1">
              <a:solidFill>
                <a:srgbClr val="3867D3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317736" y="5687568"/>
            <a:ext cx="100584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>
                <a:solidFill>
                  <a:srgbClr val="16866B"/>
                </a:solidFill>
                <a:latin typeface="微软雅黑" panose="020B0503020204020204" pitchFamily="34" charset="-122"/>
              </a:rPr>
              <a:t>3.18×</a:t>
            </a:r>
            <a:endParaRPr sz="1900" b="1">
              <a:solidFill>
                <a:srgbClr val="16866B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8096" y="6327648"/>
            <a:ext cx="10698480" cy="1554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930" b="0">
                <a:solidFill>
                  <a:srgbClr val="637186"/>
                </a:solidFill>
                <a:latin typeface="微软雅黑" panose="020B0503020204020204" pitchFamily="34" charset="-122"/>
              </a:rPr>
              <a:t>前期 M_H 用双 f 提升准确率；后期 M_L 仍用单 f 节省开销（双 f 并非所有位置都更优）。</a:t>
            </a:r>
            <a:endParaRPr sz="930" b="0">
              <a:solidFill>
                <a:srgbClr val="63718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核心方法③｜M_L 更轻，何时切换？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轻量模块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44952" y="1398778"/>
            <a:ext cx="5065776" cy="2212848"/>
          </a:xfrm>
          <a:prstGeom prst="roundRect">
            <a:avLst>
              <a:gd name="adj" fmla="val 7025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0938" y="1616329"/>
            <a:ext cx="4526280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轻量模块 M_L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17037" y="2148713"/>
            <a:ext cx="459943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个 Transformer Block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85617" y="2682113"/>
            <a:ext cx="4681728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同一组 Hidden State：预测 Token + 下一步递归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986784"/>
            <a:ext cx="105156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切换规则（由 Draft 步数 L 决定）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4498848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 = 8：前半段用 M_H，后半段用 M_L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39696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02152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64608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27064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51976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88552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314432" y="4864608"/>
            <a:ext cx="1207008" cy="521208"/>
          </a:xfrm>
          <a:prstGeom prst="roundRect">
            <a:avLst>
              <a:gd name="adj" fmla="val 29825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51008" y="4956048"/>
            <a:ext cx="1133856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M_L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5586984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 &lt; 5：第 1 步用 M_H，其余步骤用 M_L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0256" y="5577840"/>
            <a:ext cx="1920240" cy="310896"/>
          </a:xfrm>
          <a:prstGeom prst="roundRect">
            <a:avLst>
              <a:gd name="adj" fmla="val 44118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5591556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1：M_H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32520" y="5577840"/>
            <a:ext cx="2194560" cy="310896"/>
          </a:xfrm>
          <a:prstGeom prst="roundRect">
            <a:avLst>
              <a:gd name="adj" fmla="val 44118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96528" y="5591556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 2+：M_L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实验结果｜接受长度不一定更长，速度仍然更快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实验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243584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Llama3.1-8B-Instruct｜五个任务平均｜Temperature=0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" y="1773936"/>
            <a:ext cx="7360920" cy="1115568"/>
          </a:xfrm>
          <a:prstGeom prst="roundRect">
            <a:avLst>
              <a:gd name="adj" fmla="val 139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92808"/>
            <a:ext cx="160934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Batch =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04288" y="1865376"/>
            <a:ext cx="103327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EAGLE-3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3346704" y="1892808"/>
            <a:ext cx="2849061" cy="301752"/>
          </a:xfrm>
          <a:prstGeom prst="roundRect">
            <a:avLst>
              <a:gd name="adj" fmla="val 24242"/>
            </a:avLst>
          </a:prstGeom>
          <a:solidFill>
            <a:srgbClr val="AAC3F3"/>
          </a:solidFill>
          <a:ln w="10160">
            <a:solidFill>
              <a:srgbClr val="AAC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2395728"/>
            <a:ext cx="3264983" cy="301752"/>
          </a:xfrm>
          <a:prstGeom prst="roundRect">
            <a:avLst>
              <a:gd name="adj" fmla="val 24242"/>
            </a:avLst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865376"/>
            <a:ext cx="7406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2.74×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3448" y="2368296"/>
            <a:ext cx="7406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3.14×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" y="3118104"/>
            <a:ext cx="7360920" cy="1115568"/>
          </a:xfrm>
          <a:prstGeom prst="roundRect">
            <a:avLst>
              <a:gd name="adj" fmla="val 13934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236976"/>
            <a:ext cx="160934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Batch = 32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04288" y="3209544"/>
            <a:ext cx="103327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EAGLE-3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304288" y="3721608"/>
            <a:ext cx="101498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3346704" y="3236976"/>
            <a:ext cx="1746870" cy="301752"/>
          </a:xfrm>
          <a:prstGeom prst="roundRect">
            <a:avLst>
              <a:gd name="adj" fmla="val 24242"/>
            </a:avLst>
          </a:prstGeom>
          <a:solidFill>
            <a:srgbClr val="AAC3F3"/>
          </a:solidFill>
          <a:ln w="10160">
            <a:solidFill>
              <a:srgbClr val="AAC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6704" y="3739896"/>
            <a:ext cx="1882044" cy="301752"/>
          </a:xfrm>
          <a:prstGeom prst="roundRect">
            <a:avLst>
              <a:gd name="adj" fmla="val 24242"/>
            </a:avLst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3209544"/>
            <a:ext cx="7406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1.68×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3448" y="3712464"/>
            <a:ext cx="7406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1.81×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2752" y="1773936"/>
            <a:ext cx="3191256" cy="2450592"/>
          </a:xfrm>
          <a:prstGeom prst="roundRect">
            <a:avLst>
              <a:gd name="adj" fmla="val 6343"/>
            </a:avLst>
          </a:prstGeom>
          <a:solidFill>
            <a:srgbClr val="172544"/>
          </a:solidFill>
          <a:ln w="10160">
            <a:solidFill>
              <a:srgbClr val="172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22208" y="2212848"/>
            <a:ext cx="2752344" cy="6675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3.72×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8476488" y="3026664"/>
            <a:ext cx="28254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1D4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HumanEval 最高加速比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30768" y="3447288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1D4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相对普通自回归解码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" y="4681728"/>
            <a:ext cx="10808208" cy="1161288"/>
          </a:xfrm>
          <a:prstGeom prst="roundRect">
            <a:avLst>
              <a:gd name="adj" fmla="val 13386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855464"/>
            <a:ext cx="7452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关键反例：Batch=32 的平均接受长度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3272" y="5294376"/>
            <a:ext cx="79552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EAGLE-3：3.41    →    HCSpec：3.36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31936" y="5166360"/>
            <a:ext cx="2633472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虽然更短，但更快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6053328"/>
            <a:ext cx="1077163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结论：评估 Draft 不应只看接受长度，还要看 Draft 的计算成本与端到端耗时。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06BDB"/>
          </a:solidFill>
          <a:ln w="10160">
            <a:solidFill>
              <a:srgbClr val="406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7899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总结｜按位置分配计算能力，而不是平均用力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6072" y="1024128"/>
            <a:ext cx="11000232" cy="0"/>
          </a:xfrm>
          <a:prstGeom prst="line">
            <a:avLst/>
          </a:prstGeom>
          <a:noFill/>
          <a:ln w="15240">
            <a:solidFill>
              <a:srgbClr val="DC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6473952"/>
            <a:ext cx="7955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HCSpec · ACL 2026  |  总结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80192" y="6437376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878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" y="1481328"/>
            <a:ext cx="5074920" cy="2148840"/>
          </a:xfrm>
          <a:prstGeom prst="roundRect">
            <a:avLst>
              <a:gd name="adj" fmla="val 7234"/>
            </a:avLst>
          </a:prstGeom>
          <a:solidFill>
            <a:srgbClr val="E9F0FF"/>
          </a:solidFill>
          <a:ln w="10160">
            <a:solidFill>
              <a:srgbClr val="E9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1907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06B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 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3969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两级异构 Draft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87552" y="2788920"/>
            <a:ext cx="458114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前面用更强的 M_H，后面用更快的 M_L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53328" y="1481328"/>
            <a:ext cx="5212080" cy="2148840"/>
          </a:xfrm>
          <a:prstGeom prst="roundRect">
            <a:avLst>
              <a:gd name="adj" fmla="val 7234"/>
            </a:avLst>
          </a:prstGeom>
          <a:solidFill>
            <a:srgbClr val="E6F7F1"/>
          </a:solidFill>
          <a:ln w="10160">
            <a:solidFill>
              <a:srgbClr val="E6F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1719072"/>
            <a:ext cx="455371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97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 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18504" y="2139696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双路径 Feature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00216" y="2788920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Token 预测与未来状态传播分离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4197096"/>
            <a:ext cx="10570464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900" b="1" dirty="0">
                <a:solidFill>
                  <a:srgbClr val="1725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反思</a:t>
            </a:r>
            <a:endParaRPr lang="zh-CN" altLang="en-US" sz="1900" b="1" dirty="0">
              <a:solidFill>
                <a:srgbClr val="1725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952" y="4681728"/>
            <a:ext cx="10515600" cy="731520"/>
          </a:xfrm>
          <a:prstGeom prst="roundRect">
            <a:avLst>
              <a:gd name="adj" fmla="val 21250"/>
            </a:avLst>
          </a:prstGeom>
          <a:solidFill>
            <a:srgbClr val="FFFFFF"/>
          </a:solidFill>
          <a:ln w="10160">
            <a:solidFill>
              <a:srgbClr val="DC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846320"/>
            <a:ext cx="993038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固定切换位置是否最优？能否根据接受收益与实际耗时联合决定 Draft 策略？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5769864"/>
            <a:ext cx="10012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Takeaway：端到端推理效率  &gt;  单纯追求最长接受链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2503</Words>
  <Application>WPS 演示</Application>
  <PresentationFormat>On-screen Show (16:9)</PresentationFormat>
  <Paragraphs>346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Academic presentation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HCSpec：两级水平级联推测解码 | 5分钟组会</dc:title>
  <dc:creator>OpenAI</dc:creator>
  <dc:subject>HCSpec ACL 2026 组会汇报</dc:subject>
  <cp:lastModifiedBy>。。。</cp:lastModifiedBy>
  <cp:revision>3</cp:revision>
  <dcterms:created xsi:type="dcterms:W3CDTF">2026-10-15T04:24:00Z</dcterms:created>
  <dcterms:modified xsi:type="dcterms:W3CDTF">2026-10-16T11:50:59Z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70AB6A2B6D9D4527AB1C63E173CC451F_12</vt:lpwstr>
  </property>
</Properties>
</file>