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57200"/>
            <a:ext cx="1371600" cy="1371600"/>
          </a:xfrm>
          <a:prstGeom prst="ellipse">
            <a:avLst/>
          </a:prstGeom>
          <a:solidFill>
            <a:srgbClr val="4F7DF3"/>
          </a:solidFill>
          <a:ln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1417320"/>
            <a:ext cx="822960" cy="822960"/>
          </a:xfrm>
          <a:prstGeom prst="ellipse">
            <a:avLst/>
          </a:prstGeom>
          <a:solidFill>
            <a:srgbClr val="1DBF9F"/>
          </a:solidFill>
          <a:ln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920240"/>
            <a:ext cx="502920" cy="502920"/>
          </a:xfrm>
          <a:prstGeom prst="ellipse">
            <a:avLst/>
          </a:prstGeom>
          <a:solidFill>
            <a:srgbClr val="F5C451"/>
          </a:solidFill>
          <a:ln>
            <a:solidFill>
              <a:srgbClr val="F5C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2743200"/>
            <a:ext cx="384048" cy="384048"/>
          </a:xfrm>
          <a:prstGeom prst="ellipse">
            <a:avLst/>
          </a:prstGeom>
          <a:solidFill>
            <a:srgbClr val="F97066"/>
          </a:solidFill>
          <a:ln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498079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DBF9F"/>
                </a:solidFill>
                <a:latin typeface="微软雅黑" panose="020B0503020204020204" charset="-122"/>
              </a:rPr>
              <a:t>PAPER PRESENTATION  /  2026</a:t>
            </a:r>
            <a:endParaRPr sz="11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234440"/>
            <a:ext cx="804672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微软雅黑" panose="020B0503020204020204" charset="-122"/>
              </a:rPr>
              <a:t>DFlash</a:t>
            </a:r>
            <a:endParaRPr sz="4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148840"/>
            <a:ext cx="80467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D9E3F2"/>
                </a:solidFill>
                <a:latin typeface="微软雅黑" panose="020B0503020204020204" charset="-122"/>
              </a:rPr>
              <a:t>Block Diffusion for Flash Speculative Decoding</a:t>
            </a:r>
            <a:endParaRPr sz="2100" b="0" i="0">
              <a:solidFill>
                <a:srgbClr val="D9E3F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944368"/>
            <a:ext cx="72237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</a:rPr>
              <a:t>用目标模型特征增强草稿质量，用块扩散并行生成草稿 Token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3767328"/>
            <a:ext cx="71323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5C5"/>
                </a:solidFill>
                <a:latin typeface="微软雅黑" panose="020B0503020204020204" charset="-122"/>
              </a:rPr>
              <a:t>Jian Chen · Yesheng Liang · Zhijian Liu  |  ICML 2026</a:t>
            </a:r>
            <a:endParaRPr sz="11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8096" y="4956048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4965192"/>
            <a:ext cx="1783079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目标特征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25496" y="4956048"/>
            <a:ext cx="1874519" cy="475488"/>
          </a:xfrm>
          <a:prstGeom prst="roundRect">
            <a:avLst>
              <a:gd name="adj" fmla="val 12000"/>
            </a:avLst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5" y="4965192"/>
            <a:ext cx="1783079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KV Injection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82896" y="4956048"/>
            <a:ext cx="2331720" cy="475488"/>
          </a:xfrm>
          <a:prstGeom prst="roundRect">
            <a:avLst>
              <a:gd name="adj" fmla="val 12000"/>
            </a:avLst>
          </a:prstGeom>
          <a:solidFill>
            <a:srgbClr val="8B7CF6"/>
          </a:solidFill>
          <a:ln w="1270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4965192"/>
            <a:ext cx="2240279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块扩散并行草稿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8096" y="5989320"/>
            <a:ext cx="77724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5C5"/>
                </a:solidFill>
                <a:latin typeface="微软雅黑" panose="020B0503020204020204" charset="-122"/>
              </a:rPr>
              <a:t>汇报主线：动机 → 方法 → 训练 → 实验</a:t>
            </a:r>
            <a:endParaRPr sz="12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5C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5C5"/>
                </a:solidFill>
                <a:latin typeface="微软雅黑" panose="020B0503020204020204" charset="-122"/>
              </a:rPr>
              <a:t>01</a:t>
            </a:r>
            <a:endParaRPr sz="9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微软雅黑" panose="020B0503020204020204" charset="-122"/>
              </a:rPr>
              <a:t>01  研究动机：草稿生成仍然是串行瓶颈</a:t>
            </a:r>
            <a:endParaRPr sz="2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推测解码的目标不只是提高接受长度，还要缩短生成草稿所花的时间。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0292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02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417320"/>
            <a:ext cx="544068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64208"/>
            <a:ext cx="1417320" cy="347472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73352"/>
            <a:ext cx="13258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4F7DF3"/>
                </a:solidFill>
                <a:latin typeface="微软雅黑" panose="020B0503020204020204" charset="-122"/>
              </a:rPr>
              <a:t>EAGLE-3 风格</a:t>
            </a:r>
            <a:endParaRPr sz="105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103120"/>
            <a:ext cx="4754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828"/>
                </a:solidFill>
                <a:latin typeface="微软雅黑" panose="020B0503020204020204" charset="-122"/>
              </a:rPr>
              <a:t>自回归草稿：后一步依赖前一步</a:t>
            </a:r>
            <a:endParaRPr sz="17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0392" y="2862072"/>
            <a:ext cx="786384" cy="58521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C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871216"/>
            <a:ext cx="786384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F7DF3"/>
                </a:solidFill>
                <a:latin typeface="微软雅黑" panose="020B0503020204020204" charset="-122"/>
              </a:rPr>
              <a:t>T₁</a:t>
            </a:r>
            <a:endParaRPr sz="18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5064" y="2907792"/>
            <a:ext cx="31089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020824" y="2862072"/>
            <a:ext cx="786384" cy="58521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C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2871216"/>
            <a:ext cx="786384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F7DF3"/>
                </a:solidFill>
                <a:latin typeface="微软雅黑" panose="020B0503020204020204" charset="-122"/>
              </a:rPr>
              <a:t>T₂</a:t>
            </a:r>
            <a:endParaRPr sz="18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5496" y="2907792"/>
            <a:ext cx="31089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91256" y="2862072"/>
            <a:ext cx="786384" cy="58521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C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2871216"/>
            <a:ext cx="786384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F7DF3"/>
                </a:solidFill>
                <a:latin typeface="微软雅黑" panose="020B0503020204020204" charset="-122"/>
              </a:rPr>
              <a:t>T₃</a:t>
            </a:r>
            <a:endParaRPr sz="18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95928" y="2907792"/>
            <a:ext cx="31089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61688" y="2862072"/>
            <a:ext cx="786384" cy="585216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C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871216"/>
            <a:ext cx="786384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F7DF3"/>
                </a:solidFill>
                <a:latin typeface="微软雅黑" panose="020B0503020204020204" charset="-122"/>
              </a:rPr>
              <a:t>T₄</a:t>
            </a:r>
            <a:endParaRPr sz="18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3822191"/>
            <a:ext cx="466344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微软雅黑" panose="020B0503020204020204" charset="-122"/>
              </a:rPr>
              <a:t>生成第 2 个 Token 前，需要先得到第 1 个 Token。</a:t>
            </a:r>
            <a:endParaRPr sz="13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41248" y="4800600"/>
            <a:ext cx="1874519" cy="411480"/>
          </a:xfrm>
          <a:prstGeom prst="roundRect">
            <a:avLst>
              <a:gd name="adj" fmla="val 12000"/>
            </a:avLst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809744"/>
            <a:ext cx="1783079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97066"/>
                </a:solidFill>
                <a:latin typeface="微软雅黑" panose="020B0503020204020204" charset="-122"/>
              </a:rPr>
              <a:t>多次串行前向</a:t>
            </a:r>
            <a:endParaRPr sz="1100" b="1" i="0">
              <a:solidFill>
                <a:srgbClr val="F97066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99632" y="1417320"/>
            <a:ext cx="544068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55664" y="1664208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1673352"/>
            <a:ext cx="1234439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87F68"/>
                </a:solidFill>
                <a:latin typeface="微软雅黑" panose="020B0503020204020204" charset="-122"/>
              </a:rPr>
              <a:t>DFlash</a:t>
            </a:r>
            <a:endParaRPr sz="105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55664" y="2103120"/>
            <a:ext cx="47548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1828"/>
                </a:solidFill>
                <a:latin typeface="微软雅黑" panose="020B0503020204020204" charset="-122"/>
              </a:rPr>
              <a:t>块扩散：多个位置一次预测</a:t>
            </a:r>
            <a:endParaRPr sz="17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10528" y="2779776"/>
            <a:ext cx="4663440" cy="658368"/>
          </a:xfrm>
          <a:prstGeom prst="roundRect">
            <a:avLst>
              <a:gd name="adj" fmla="val 12000"/>
            </a:avLst>
          </a:prstGeom>
          <a:solidFill>
            <a:srgbClr val="F0F4F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16352"/>
            <a:ext cx="45262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828"/>
                </a:solidFill>
                <a:latin typeface="微软雅黑" panose="020B0503020204020204" charset="-122"/>
              </a:rPr>
              <a:t>Anchor  +  MASK  MASK  MASK  …</a:t>
            </a:r>
            <a:endParaRPr sz="1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49056" y="3511296"/>
            <a:ext cx="73152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DBF9F"/>
                </a:solidFill>
                <a:latin typeface="微软雅黑" panose="020B0503020204020204" charset="-122"/>
              </a:rPr>
              <a:t>↓</a:t>
            </a:r>
            <a:endParaRPr sz="22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65392" y="3950208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B6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959352"/>
            <a:ext cx="82296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87F68"/>
                </a:solidFill>
                <a:latin typeface="微软雅黑" panose="020B0503020204020204" charset="-122"/>
              </a:rPr>
              <a:t>T₁</a:t>
            </a:r>
            <a:endParaRPr sz="17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717536" y="3950208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B6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959352"/>
            <a:ext cx="82296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87F68"/>
                </a:solidFill>
                <a:latin typeface="微软雅黑" panose="020B0503020204020204" charset="-122"/>
              </a:rPr>
              <a:t>T₂</a:t>
            </a:r>
            <a:endParaRPr sz="17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69680" y="3950208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B6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959352"/>
            <a:ext cx="82296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87F68"/>
                </a:solidFill>
                <a:latin typeface="微软雅黑" panose="020B0503020204020204" charset="-122"/>
              </a:rPr>
              <a:t>T₃</a:t>
            </a:r>
            <a:endParaRPr sz="17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021824" y="3950208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B6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21824" y="3959352"/>
            <a:ext cx="82296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87F68"/>
                </a:solidFill>
                <a:latin typeface="微软雅黑" panose="020B0503020204020204" charset="-122"/>
              </a:rPr>
              <a:t>T₄</a:t>
            </a:r>
            <a:endParaRPr sz="17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73952" y="4736592"/>
            <a:ext cx="47548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微软雅黑" panose="020B0503020204020204" charset="-122"/>
              </a:rPr>
              <a:t>一次 Draft Forward，并行得到多个位置的预测分布。</a:t>
            </a:r>
            <a:endParaRPr sz="13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510528" y="5193792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5202936"/>
            <a:ext cx="19202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087F68"/>
                </a:solidFill>
                <a:latin typeface="微软雅黑" panose="020B0503020204020204" charset="-122"/>
              </a:rPr>
              <a:t>减少草稿串行开销</a:t>
            </a:r>
            <a:endParaRPr sz="105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13232" y="5870448"/>
            <a:ext cx="10744200" cy="411480"/>
          </a:xfrm>
          <a:prstGeom prst="roundRect">
            <a:avLst>
              <a:gd name="adj" fmla="val 12000"/>
            </a:avLst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888736"/>
            <a:ext cx="1037844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核心问题：如何让草稿并行生成，同时仍然足够准确，能被目标模型接受？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02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微软雅黑" panose="020B0503020204020204" charset="-122"/>
              </a:rPr>
              <a:t>02  整体架构：目标特征 + KV 注入 + 块扩散</a:t>
            </a:r>
            <a:endParaRPr sz="2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DFlash 将目标模型已经计算出的上下文信息交给轻量级草稿模型。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0292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03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920240" cy="932688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18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27631"/>
            <a:ext cx="18105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Target Model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8105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微软雅黑" panose="020B0503020204020204" charset="-122"/>
              </a:rPr>
              <a:t>冻结的目标模型</a:t>
            </a:r>
            <a:endParaRPr sz="950" b="0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508760"/>
            <a:ext cx="1828800" cy="932688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627631"/>
            <a:ext cx="17190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F7DF3"/>
                </a:solidFill>
                <a:latin typeface="微软雅黑" panose="020B0503020204020204" charset="-122"/>
              </a:rPr>
              <a:t>5 层 Hidden States</a:t>
            </a:r>
            <a:endParaRPr sz="14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98064" y="1975104"/>
            <a:ext cx="171907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微软雅黑" panose="020B0503020204020204" charset="-122"/>
              </a:rPr>
              <a:t>抽取不同深度特征</a:t>
            </a:r>
            <a:endParaRPr sz="9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873752" y="1508760"/>
            <a:ext cx="2057400" cy="932688"/>
          </a:xfrm>
          <a:prstGeom prst="roundRect">
            <a:avLst>
              <a:gd name="adj" fmla="val 12000"/>
            </a:avLst>
          </a:prstGeom>
          <a:solidFill>
            <a:srgbClr val="E8E5FF"/>
          </a:solidFill>
          <a:ln w="12700">
            <a:solidFill>
              <a:srgbClr val="E8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1627631"/>
            <a:ext cx="194767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D46C5"/>
                </a:solidFill>
                <a:latin typeface="微软雅黑" panose="020B0503020204020204" charset="-122"/>
              </a:rPr>
              <a:t>Concat + FC</a:t>
            </a:r>
            <a:endParaRPr sz="1400" b="1" i="0">
              <a:solidFill>
                <a:srgbClr val="5D46C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28616" y="1975104"/>
            <a:ext cx="194767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微软雅黑" panose="020B0503020204020204" charset="-122"/>
              </a:rPr>
              <a:t>拼接、线性投影、RMSNorm</a:t>
            </a:r>
            <a:endParaRPr sz="9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51192" y="1508760"/>
            <a:ext cx="1691640" cy="93268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5" y="1627631"/>
            <a:ext cx="1581912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87F68"/>
                </a:solidFill>
                <a:latin typeface="微软雅黑" panose="020B0503020204020204" charset="-122"/>
              </a:rPr>
              <a:t>融合特征 Hₜ</a:t>
            </a:r>
            <a:endParaRPr sz="14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06055" y="1975104"/>
            <a:ext cx="158191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微软雅黑" panose="020B0503020204020204" charset="-122"/>
              </a:rPr>
              <a:t>每个上下文 Token 一份</a:t>
            </a:r>
            <a:endParaRPr sz="9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1737360"/>
            <a:ext cx="256031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01752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31152" y="1737360"/>
            <a:ext cx="320039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2834640"/>
            <a:ext cx="10972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828"/>
                </a:solidFill>
                <a:latin typeface="微软雅黑" panose="020B0503020204020204" charset="-122"/>
              </a:rPr>
              <a:t>草稿生成与验证</a:t>
            </a:r>
            <a:endParaRPr sz="1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364992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3547872"/>
            <a:ext cx="1911095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87F68"/>
                </a:solidFill>
                <a:latin typeface="微软雅黑" panose="020B0503020204020204" charset="-122"/>
              </a:rPr>
              <a:t>KV Injection</a:t>
            </a:r>
            <a:endParaRPr sz="15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" y="3922776"/>
            <a:ext cx="181965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微软雅黑" panose="020B0503020204020204" charset="-122"/>
              </a:rPr>
              <a:t>每个草稿层都可访问 Hₜ</a:t>
            </a:r>
            <a:endParaRPr sz="10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90672" y="3364992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3824" y="3547872"/>
            <a:ext cx="200253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F7DF3"/>
                </a:solidFill>
                <a:latin typeface="微软雅黑" panose="020B0503020204020204" charset="-122"/>
              </a:rPr>
              <a:t>Block Diffusion</a:t>
            </a:r>
            <a:endParaRPr sz="15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9544" y="3922776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微软雅黑" panose="020B0503020204020204" charset="-122"/>
              </a:rPr>
              <a:t>一次前向并行预测一块</a:t>
            </a:r>
            <a:endParaRPr sz="10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50992" y="3364992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24144" y="3547872"/>
            <a:ext cx="200253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9A6700"/>
                </a:solidFill>
                <a:latin typeface="微软雅黑" panose="020B0503020204020204" charset="-122"/>
              </a:rPr>
              <a:t>Target Verification</a:t>
            </a:r>
            <a:endParaRPr sz="1500" b="1" i="0">
              <a:solidFill>
                <a:srgbClr val="9A670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69864" y="3922776"/>
            <a:ext cx="1911095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微软雅黑" panose="020B0503020204020204" charset="-122"/>
              </a:rPr>
              <a:t>目标模型并行验证草稿</a:t>
            </a:r>
            <a:endParaRPr sz="10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11312" y="3364992"/>
            <a:ext cx="3246120" cy="1143000"/>
          </a:xfrm>
          <a:prstGeom prst="roundRect">
            <a:avLst>
              <a:gd name="adj" fmla="val 12000"/>
            </a:avLst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547872"/>
            <a:ext cx="3099815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97066"/>
                </a:solidFill>
                <a:latin typeface="微软雅黑" panose="020B0503020204020204" charset="-122"/>
              </a:rPr>
              <a:t>接受前缀 / 纠正</a:t>
            </a:r>
            <a:endParaRPr sz="1500" b="1" i="0">
              <a:solidFill>
                <a:srgbClr val="F97066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30184" y="3922776"/>
            <a:ext cx="300837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72033"/>
                </a:solidFill>
                <a:latin typeface="微软雅黑" panose="020B0503020204020204" charset="-122"/>
              </a:rPr>
              <a:t>保留可接受的连续前缀；不匹配时按验证规则纠正</a:t>
            </a:r>
            <a:endParaRPr sz="10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97480" y="3675887"/>
            <a:ext cx="393191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2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39512" y="3675887"/>
            <a:ext cx="411479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2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99831" y="3675887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2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5800" y="4983480"/>
            <a:ext cx="10789920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084064"/>
            <a:ext cx="102870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微软雅黑" panose="020B0503020204020204" charset="-122"/>
              </a:rPr>
              <a:t>两个互补的设计</a:t>
            </a:r>
            <a:endParaRPr sz="13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400" y="5385816"/>
            <a:ext cx="102870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微软雅黑" panose="020B0503020204020204" charset="-122"/>
              </a:rPr>
              <a:t>KV Injection：增强草稿对上下文的利用；Block Diffusion：降低草稿生成的串行延迟。</a:t>
            </a:r>
            <a:endParaRPr sz="13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03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微软雅黑" panose="020B0503020204020204" charset="-122"/>
              </a:rPr>
              <a:t>03  KV Injection：同一份特征，逐层独立投影</a:t>
            </a:r>
            <a:endParaRPr sz="2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这里的 Wₖ / Wᵥ 是草稿层的可学习参数；不是把两个 K 直接相加。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0292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04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B6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9968"/>
            <a:ext cx="168249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87F68"/>
                </a:solidFill>
                <a:latin typeface="微软雅黑" panose="020B0503020204020204" charset="-122"/>
              </a:rPr>
              <a:t>融合特征 Hₜ</a:t>
            </a:r>
            <a:endParaRPr sz="17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1682496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微软雅黑" panose="020B0503020204020204" charset="-122"/>
              </a:rPr>
              <a:t>目标模型上下文</a:t>
            </a:r>
            <a:endParaRPr sz="10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32888" y="2167128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3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71800" y="1481328"/>
            <a:ext cx="3703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1536192"/>
            <a:ext cx="84124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1828"/>
                </a:solidFill>
                <a:latin typeface="微软雅黑" panose="020B0503020204020204" charset="-122"/>
              </a:rPr>
              <a:t>第 1 层</a:t>
            </a:r>
            <a:endParaRPr sz="11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13632" y="1527048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F7DF3"/>
                </a:solidFill>
                <a:latin typeface="微软雅黑" panose="020B0503020204020204" charset="-122"/>
              </a:rPr>
              <a:t>Kₜ⁽1⁾ = Hₜ Wₖ⁽1⁾</a:t>
            </a:r>
            <a:endParaRPr sz="12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13632" y="187452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7F68"/>
                </a:solidFill>
                <a:latin typeface="微软雅黑" panose="020B0503020204020204" charset="-122"/>
              </a:rPr>
              <a:t>Vₜ⁽1⁾ = Hₜ Wᵥ⁽1⁾</a:t>
            </a:r>
            <a:endParaRPr sz="12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71800" y="2578608"/>
            <a:ext cx="3703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33472"/>
            <a:ext cx="84124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1828"/>
                </a:solidFill>
                <a:latin typeface="微软雅黑" panose="020B0503020204020204" charset="-122"/>
              </a:rPr>
              <a:t>第 2 层</a:t>
            </a:r>
            <a:endParaRPr sz="11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13632" y="2624327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F7DF3"/>
                </a:solidFill>
                <a:latin typeface="微软雅黑" panose="020B0503020204020204" charset="-122"/>
              </a:rPr>
              <a:t>Kₜ⁽2⁾ = Hₜ Wₖ⁽2⁾</a:t>
            </a:r>
            <a:endParaRPr sz="12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13632" y="2971800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7F68"/>
                </a:solidFill>
                <a:latin typeface="微软雅黑" panose="020B0503020204020204" charset="-122"/>
              </a:rPr>
              <a:t>Vₜ⁽2⁾ = Hₜ Wᵥ⁽2⁾</a:t>
            </a:r>
            <a:endParaRPr sz="12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71800" y="3675887"/>
            <a:ext cx="370332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3730751"/>
            <a:ext cx="841248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1828"/>
                </a:solidFill>
                <a:latin typeface="微软雅黑" panose="020B0503020204020204" charset="-122"/>
              </a:rPr>
              <a:t>第 3 层</a:t>
            </a:r>
            <a:endParaRPr sz="11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13632" y="3721607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F7DF3"/>
                </a:solidFill>
                <a:latin typeface="微软雅黑" panose="020B0503020204020204" charset="-122"/>
              </a:rPr>
              <a:t>Kₜ⁽3⁾ = Hₜ Wₖ⁽3⁾</a:t>
            </a:r>
            <a:endParaRPr sz="12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13632" y="4069079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7F68"/>
                </a:solidFill>
                <a:latin typeface="微软雅黑" panose="020B0503020204020204" charset="-122"/>
              </a:rPr>
              <a:t>Vₜ⁽3⁾ = Hₜ Wᵥ⁽3⁾</a:t>
            </a:r>
            <a:endParaRPr sz="12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48272" y="2587752"/>
            <a:ext cx="457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4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269480" y="1920240"/>
            <a:ext cx="1874519" cy="201168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C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2148840"/>
            <a:ext cx="1636776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F7DF3"/>
                </a:solidFill>
                <a:latin typeface="微软雅黑" panose="020B0503020204020204" charset="-122"/>
              </a:rPr>
              <a:t>草稿层 Attention</a:t>
            </a:r>
            <a:endParaRPr sz="14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34072" y="2624328"/>
            <a:ext cx="154533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1828"/>
                </a:solidFill>
                <a:latin typeface="微软雅黑" panose="020B0503020204020204" charset="-122"/>
              </a:rPr>
              <a:t>Qᵈ 查询</a:t>
            </a:r>
            <a:endParaRPr sz="13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34072" y="3063240"/>
            <a:ext cx="1545336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7F68"/>
                </a:solidFill>
                <a:latin typeface="微软雅黑" panose="020B0503020204020204" charset="-122"/>
              </a:rPr>
              <a:t>读取目标 K / V</a:t>
            </a:r>
            <a:endParaRPr sz="12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81160" y="2587752"/>
            <a:ext cx="41148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4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784080" y="2121408"/>
            <a:ext cx="1737360" cy="1600200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18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2359152"/>
            <a:ext cx="1517904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D9E3F2"/>
                </a:solidFill>
                <a:latin typeface="微软雅黑" panose="020B0503020204020204" charset="-122"/>
              </a:rPr>
              <a:t>更新后的</a:t>
            </a:r>
            <a:endParaRPr sz="1300" b="0" i="0">
              <a:solidFill>
                <a:srgbClr val="D9E3F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93808" y="2816352"/>
            <a:ext cx="1517904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草稿隐藏状态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4956048"/>
            <a:ext cx="10863072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5175504"/>
            <a:ext cx="1417320" cy="347472"/>
          </a:xfrm>
          <a:prstGeom prst="roundRect">
            <a:avLst>
              <a:gd name="adj" fmla="val 12000"/>
            </a:avLst>
          </a:prstGeom>
          <a:solidFill>
            <a:srgbClr val="F5C451"/>
          </a:solidFill>
          <a:ln w="12700">
            <a:solidFill>
              <a:srgbClr val="F5C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13258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01828"/>
                </a:solidFill>
                <a:latin typeface="微软雅黑" panose="020B0503020204020204" charset="-122"/>
              </a:rPr>
              <a:t>关键理解</a:t>
            </a:r>
            <a:endParaRPr sz="105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68880" y="5047488"/>
            <a:ext cx="8641080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72033"/>
                </a:solidFill>
                <a:latin typeface="微软雅黑" panose="020B0503020204020204" charset="-122"/>
              </a:rPr>
              <a:t>Hₜ 可以共享；但每一层有自己的 Wₖ⁽ⁱ⁾、Wᵥ⁽ⁱ⁾，所以各层生成的 K / V 表示通常不同。训练时，参数通过最终 Token 预测损失反向更新。</a:t>
            </a:r>
            <a:endParaRPr sz="12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04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微软雅黑" panose="020B0503020204020204" charset="-122"/>
              </a:rPr>
              <a:t>04  Block Diffusion：一次前向预测一整块</a:t>
            </a:r>
            <a:endParaRPr sz="2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与自回归草稿不同，MASK 位置不是逐个回填、逐个重新预测。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0292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05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057400" cy="841248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664208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F7DF3"/>
                </a:solidFill>
                <a:latin typeface="微软雅黑" panose="020B0503020204020204" charset="-122"/>
              </a:rPr>
              <a:t>① 构造输入</a:t>
            </a:r>
            <a:endParaRPr sz="13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1" y="2011680"/>
            <a:ext cx="1911095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微软雅黑" panose="020B0503020204020204" charset="-122"/>
              </a:rPr>
              <a:t>Anchor + MASK × block</a:t>
            </a:r>
            <a:endParaRPr sz="9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71800" y="1554480"/>
            <a:ext cx="2057400" cy="841248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664208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87F68"/>
                </a:solidFill>
                <a:latin typeface="微软雅黑" panose="020B0503020204020204" charset="-122"/>
              </a:rPr>
              <a:t>② 并行预测</a:t>
            </a:r>
            <a:endParaRPr sz="13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4952" y="2011680"/>
            <a:ext cx="1911095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微软雅黑" panose="020B0503020204020204" charset="-122"/>
              </a:rPr>
              <a:t>一次 Draft Forward</a:t>
            </a:r>
            <a:endParaRPr sz="9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03520" y="1554480"/>
            <a:ext cx="2057400" cy="841248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664208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9A6700"/>
                </a:solidFill>
                <a:latin typeface="微软雅黑" panose="020B0503020204020204" charset="-122"/>
              </a:rPr>
              <a:t>③ 目标验证</a:t>
            </a:r>
            <a:endParaRPr sz="1300" b="1" i="0">
              <a:solidFill>
                <a:srgbClr val="9A670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76672" y="2011680"/>
            <a:ext cx="1911095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微软雅黑" panose="020B0503020204020204" charset="-122"/>
              </a:rPr>
              <a:t>Target Model 一次验证</a:t>
            </a:r>
            <a:endParaRPr sz="9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35240" y="1554480"/>
            <a:ext cx="2057400" cy="841248"/>
          </a:xfrm>
          <a:prstGeom prst="roundRect">
            <a:avLst>
              <a:gd name="adj" fmla="val 12000"/>
            </a:avLst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664208"/>
            <a:ext cx="1911095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97066"/>
                </a:solidFill>
                <a:latin typeface="微软雅黑" panose="020B0503020204020204" charset="-122"/>
              </a:rPr>
              <a:t>④ 接受 / 纠正</a:t>
            </a:r>
            <a:endParaRPr sz="1300" b="1" i="0">
              <a:solidFill>
                <a:srgbClr val="F9706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08392" y="2011680"/>
            <a:ext cx="1911095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微软雅黑" panose="020B0503020204020204" charset="-122"/>
              </a:rPr>
              <a:t>接受连续前缀，纠正失配</a:t>
            </a:r>
            <a:endParaRPr sz="950" b="0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24912" y="1792224"/>
            <a:ext cx="21945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56632" y="1792224"/>
            <a:ext cx="21945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88352" y="1792224"/>
            <a:ext cx="219456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67085"/>
                </a:solidFill>
                <a:latin typeface="微软雅黑" panose="020B0503020204020204" charset="-122"/>
              </a:rPr>
              <a:t>→</a:t>
            </a:r>
            <a:endParaRPr sz="20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2816352"/>
            <a:ext cx="1083564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999232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828"/>
                </a:solidFill>
                <a:latin typeface="微软雅黑" panose="020B0503020204020204" charset="-122"/>
              </a:rPr>
              <a:t>示意：草稿块与目标模型验证结果</a:t>
            </a:r>
            <a:endParaRPr sz="15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3493008"/>
            <a:ext cx="14173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67085"/>
                </a:solidFill>
                <a:latin typeface="微软雅黑" panose="020B0503020204020204" charset="-122"/>
              </a:rPr>
              <a:t>草稿预测</a:t>
            </a:r>
            <a:endParaRPr sz="11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423160" y="340156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3410712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87F68"/>
                </a:solidFill>
                <a:latin typeface="微软雅黑" panose="020B0503020204020204" charset="-122"/>
              </a:rPr>
              <a:t>The</a:t>
            </a:r>
            <a:endParaRPr sz="13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813048" y="340156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410712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87F68"/>
                </a:solidFill>
                <a:latin typeface="微软雅黑" panose="020B0503020204020204" charset="-122"/>
              </a:rPr>
              <a:t>capital</a:t>
            </a:r>
            <a:endParaRPr sz="13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202936" y="340156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2936" y="3410712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97066"/>
                </a:solidFill>
                <a:latin typeface="微软雅黑" panose="020B0503020204020204" charset="-122"/>
              </a:rPr>
              <a:t>is</a:t>
            </a:r>
            <a:endParaRPr sz="1300" b="1" i="0">
              <a:solidFill>
                <a:srgbClr val="F97066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92824" y="340156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3410712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97066"/>
                </a:solidFill>
                <a:latin typeface="微软雅黑" panose="020B0503020204020204" charset="-122"/>
              </a:rPr>
              <a:t>Paris</a:t>
            </a:r>
            <a:endParaRPr sz="1300" b="1" i="0">
              <a:solidFill>
                <a:srgbClr val="F9706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4187952"/>
            <a:ext cx="14173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67085"/>
                </a:solidFill>
                <a:latin typeface="微软雅黑" panose="020B0503020204020204" charset="-122"/>
              </a:rPr>
              <a:t>目标分布</a:t>
            </a:r>
            <a:endParaRPr sz="1100" b="1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423160" y="409651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4105656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87F68"/>
                </a:solidFill>
                <a:latin typeface="微软雅黑" panose="020B0503020204020204" charset="-122"/>
              </a:rPr>
              <a:t>The</a:t>
            </a:r>
            <a:endParaRPr sz="13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813048" y="409651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DDF8F0"/>
          </a:solidFill>
          <a:ln w="12700">
            <a:solidFill>
              <a:srgbClr val="DD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3048" y="4105656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87F68"/>
                </a:solidFill>
                <a:latin typeface="微软雅黑" panose="020B0503020204020204" charset="-122"/>
              </a:rPr>
              <a:t>capital</a:t>
            </a:r>
            <a:endParaRPr sz="1300" b="1" i="0">
              <a:solidFill>
                <a:srgbClr val="087F68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202936" y="409651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02936" y="4105656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F7DF3"/>
                </a:solidFill>
                <a:latin typeface="微软雅黑" panose="020B0503020204020204" charset="-122"/>
              </a:rPr>
              <a:t>was</a:t>
            </a:r>
            <a:endParaRPr sz="13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92824" y="409651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4105656"/>
            <a:ext cx="1188720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F7DF3"/>
                </a:solidFill>
                <a:latin typeface="微软雅黑" panose="020B0503020204020204" charset="-122"/>
              </a:rPr>
              <a:t>in</a:t>
            </a:r>
            <a:endParaRPr sz="13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66760" y="3364992"/>
            <a:ext cx="2651760" cy="10058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微软雅黑" panose="020B0503020204020204" charset="-122"/>
              </a:rPr>
              <a:t>示意中，前两个 Token 匹配；遇到第一个不匹配位置后，不再接受后续草稿。</a:t>
            </a:r>
            <a:endParaRPr sz="11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412480" y="4507992"/>
            <a:ext cx="2423160" cy="384048"/>
          </a:xfrm>
          <a:prstGeom prst="roundRect">
            <a:avLst>
              <a:gd name="adj" fmla="val 12000"/>
            </a:avLst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4517136"/>
            <a:ext cx="2331720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9A6700"/>
                </a:solidFill>
                <a:latin typeface="微软雅黑" panose="020B0503020204020204" charset="-122"/>
              </a:rPr>
              <a:t>验证保证输出分布</a:t>
            </a:r>
            <a:endParaRPr sz="1050" b="1" i="0">
              <a:solidFill>
                <a:srgbClr val="9A6700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77240" y="5623560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669280"/>
            <a:ext cx="101955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</a:rPr>
              <a:t>关键：并行预测只负责提出候选；最终输出仍由目标模型的验证机制决定。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05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01828"/>
                </a:solidFill>
                <a:latin typeface="微软雅黑" panose="020B0503020204020204" charset="-122"/>
              </a:rPr>
              <a:t>06  实验结果：草稿更快，接受长度也更高</a:t>
            </a:r>
            <a:endParaRPr sz="2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论文报告：Qwen3-8B，Temperature = 0，关闭 Thinking；下列加速比相对普通自回归解码。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0292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07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8122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621792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1828"/>
                </a:solidFill>
                <a:latin typeface="微软雅黑" panose="020B0503020204020204" charset="-122"/>
              </a:rPr>
              <a:t>多任务平均解码加速比</a:t>
            </a:r>
            <a:endParaRPr sz="16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5184648"/>
            <a:ext cx="5394960" cy="18288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4228151"/>
            <a:ext cx="914400" cy="956496"/>
          </a:xfrm>
          <a:prstGeom prst="roundRect">
            <a:avLst>
              <a:gd name="adj" fmla="val 12000"/>
            </a:avLst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3844103"/>
            <a:ext cx="113385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F7DF3"/>
                </a:solidFill>
                <a:latin typeface="微软雅黑" panose="020B0503020204020204" charset="-122"/>
              </a:rPr>
              <a:t>1.76×</a:t>
            </a:r>
            <a:endParaRPr sz="1500" b="1" i="0">
              <a:solidFill>
                <a:srgbClr val="4F7DF3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36192" y="525780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72033"/>
                </a:solidFill>
                <a:latin typeface="微软雅黑" panose="020B0503020204020204" charset="-122"/>
              </a:rPr>
              <a:t>EAGLE-3
16 节点</a:t>
            </a:r>
            <a:endParaRPr sz="1050" b="1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93008" y="4086850"/>
            <a:ext cx="914400" cy="1097797"/>
          </a:xfrm>
          <a:prstGeom prst="roundRect">
            <a:avLst>
              <a:gd name="adj" fmla="val 12000"/>
            </a:avLst>
          </a:prstGeom>
          <a:solidFill>
            <a:srgbClr val="8B7CF6"/>
          </a:solidFill>
          <a:ln w="12700">
            <a:solidFill>
              <a:srgbClr val="8B7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702802"/>
            <a:ext cx="113385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8B7CF6"/>
                </a:solidFill>
                <a:latin typeface="微软雅黑" panose="020B0503020204020204" charset="-122"/>
              </a:rPr>
              <a:t>2.02×</a:t>
            </a:r>
            <a:endParaRPr sz="1500" b="1" i="0">
              <a:solidFill>
                <a:srgbClr val="8B7CF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525780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72033"/>
                </a:solidFill>
                <a:latin typeface="微软雅黑" panose="020B0503020204020204" charset="-122"/>
              </a:rPr>
              <a:t>EAGLE-3
60 节点</a:t>
            </a:r>
            <a:endParaRPr sz="1050" b="1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157216" y="2543412"/>
            <a:ext cx="914400" cy="2641235"/>
          </a:xfrm>
          <a:prstGeom prst="roundRect">
            <a:avLst>
              <a:gd name="adj" fmla="val 12000"/>
            </a:avLst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159364"/>
            <a:ext cx="1133856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DBF9F"/>
                </a:solidFill>
                <a:latin typeface="微软雅黑" panose="020B0503020204020204" charset="-122"/>
              </a:rPr>
              <a:t>4.86×</a:t>
            </a:r>
            <a:endParaRPr sz="15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64608" y="525780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72033"/>
                </a:solidFill>
                <a:latin typeface="微软雅黑" panose="020B0503020204020204" charset="-122"/>
              </a:rPr>
              <a:t>DFlash
Block 16</a:t>
            </a:r>
            <a:endParaRPr sz="1050" b="1" i="0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0" y="1417320"/>
            <a:ext cx="3703320" cy="1965960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18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700784"/>
            <a:ext cx="31089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9E3F2"/>
                </a:solidFill>
                <a:latin typeface="微软雅黑" panose="020B0503020204020204" charset="-122"/>
              </a:rPr>
              <a:t>MATH-500 最高加速</a:t>
            </a:r>
            <a:endParaRPr sz="1300" b="1" i="0">
              <a:solidFill>
                <a:srgbClr val="D9E3F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74152" y="2084831"/>
            <a:ext cx="3108960" cy="7315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1DBF9F"/>
                </a:solidFill>
                <a:latin typeface="微软雅黑" panose="020B0503020204020204" charset="-122"/>
              </a:rPr>
              <a:t>6.08×</a:t>
            </a:r>
            <a:endParaRPr sz="35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74152" y="2788920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9E3F2"/>
                </a:solidFill>
                <a:latin typeface="微软雅黑" panose="020B0503020204020204" charset="-122"/>
              </a:rPr>
              <a:t>DFlash · Qwen3-8B</a:t>
            </a:r>
            <a:endParaRPr sz="1100" b="0" i="0">
              <a:solidFill>
                <a:srgbClr val="D9E3F2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0" y="3639312"/>
            <a:ext cx="3703320" cy="23042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858768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1828"/>
                </a:solidFill>
                <a:latin typeface="微软雅黑" panose="020B0503020204020204" charset="-122"/>
              </a:rPr>
              <a:t>结果怎么理解？</a:t>
            </a:r>
            <a:endParaRPr sz="15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0" y="4279392"/>
            <a:ext cx="3154680" cy="1280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微软雅黑" panose="020B0503020204020204" charset="-122"/>
              </a:rPr>
              <a:t>• 并行草稿减少串行生成成本
• 目标特征与 KV 注入帮助维持接受率
• 高并发下加速比会下降，验证成本仍然存在</a:t>
            </a:r>
            <a:endParaRPr sz="11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6108192"/>
            <a:ext cx="103327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微软雅黑" panose="020B0503020204020204" charset="-122"/>
              </a:rPr>
              <a:t>注：加速比受模型、任务、硬件、推理后端与并发数影响；不要将单项最高值视为所有场景的保证。</a:t>
            </a:r>
            <a:endParaRPr sz="95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微软雅黑" panose="020B0503020204020204" charset="-122"/>
              </a:rPr>
              <a:t>07</a:t>
            </a:r>
            <a:endParaRPr sz="900" b="0" i="0">
              <a:solidFill>
                <a:srgbClr val="66708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总结：DFlash 的核心不是“预测更多”，而是“更快地提出可接受的草稿”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35640" cy="54864"/>
          </a:xfrm>
          <a:prstGeom prst="rect">
            <a:avLst/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847088"/>
            <a:ext cx="530352" cy="347472"/>
          </a:xfrm>
          <a:prstGeom prst="roundRect">
            <a:avLst>
              <a:gd name="adj" fmla="val 12000"/>
            </a:avLst>
          </a:prstGeom>
          <a:solidFill>
            <a:srgbClr val="4F7DF3"/>
          </a:solidFill>
          <a:ln w="12700">
            <a:solidFill>
              <a:srgbClr val="4F7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856231"/>
            <a:ext cx="43891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块扩散并行预测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65176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8D2E0"/>
                </a:solidFill>
                <a:latin typeface="微软雅黑" panose="020B0503020204020204" charset="-122"/>
              </a:rPr>
              <a:t>多个未来位置在一次草稿前向中同时预测。</a:t>
            </a:r>
            <a:endParaRPr sz="1050" b="0" i="0">
              <a:solidFill>
                <a:srgbClr val="C8D2E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0288" y="1847088"/>
            <a:ext cx="530352" cy="347472"/>
          </a:xfrm>
          <a:prstGeom prst="roundRect">
            <a:avLst>
              <a:gd name="adj" fmla="val 12000"/>
            </a:avLst>
          </a:prstGeom>
          <a:solidFill>
            <a:srgbClr val="1DBF9F"/>
          </a:solidFill>
          <a:ln w="12700">
            <a:solidFill>
              <a:srgbClr val="1DB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856231"/>
            <a:ext cx="43891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828"/>
                </a:solidFill>
                <a:latin typeface="微软雅黑" panose="020B0503020204020204" charset="-122"/>
              </a:rPr>
              <a:t>02</a:t>
            </a:r>
            <a:endParaRPr sz="10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0288" y="2267712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KV Injection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0288" y="265176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8D2E0"/>
                </a:solidFill>
                <a:latin typeface="微软雅黑" panose="020B0503020204020204" charset="-122"/>
              </a:rPr>
              <a:t>目标模型多层特征融合后，逐层投影成 K / V，帮助草稿模型利用上下文。</a:t>
            </a:r>
            <a:endParaRPr sz="1050" b="0" i="0">
              <a:solidFill>
                <a:srgbClr val="C8D2E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1508760"/>
          </a:xfrm>
          <a:prstGeom prst="roundRect">
            <a:avLst>
              <a:gd name="adj" fmla="val 12000"/>
            </a:avLst>
          </a:prstGeom>
          <a:solidFill>
            <a:srgbClr val="1825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47888" y="1847088"/>
            <a:ext cx="530352" cy="347472"/>
          </a:xfrm>
          <a:prstGeom prst="roundRect">
            <a:avLst>
              <a:gd name="adj" fmla="val 12000"/>
            </a:avLst>
          </a:prstGeom>
          <a:solidFill>
            <a:srgbClr val="F5C451"/>
          </a:solidFill>
          <a:ln w="12700">
            <a:solidFill>
              <a:srgbClr val="F5C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1"/>
            <a:ext cx="438912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01828"/>
                </a:solidFill>
                <a:latin typeface="微软雅黑" panose="020B0503020204020204" charset="-122"/>
              </a:rPr>
              <a:t>03</a:t>
            </a:r>
            <a:endParaRPr sz="1000" b="1" i="0">
              <a:solidFill>
                <a:srgbClr val="10182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目标模型验证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65176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C8D2E0"/>
                </a:solidFill>
                <a:latin typeface="微软雅黑" panose="020B0503020204020204" charset="-122"/>
              </a:rPr>
              <a:t>只接受验证规则允许的连续前缀，保持目标模型输出分布。</a:t>
            </a:r>
            <a:endParaRPr sz="1050" b="0" i="0">
              <a:solidFill>
                <a:srgbClr val="C8D2E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47548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DBF9F"/>
                </a:solidFill>
                <a:latin typeface="微软雅黑" panose="020B0503020204020204" charset="-122"/>
              </a:rPr>
              <a:t>局限与讨论</a:t>
            </a:r>
            <a:endParaRPr sz="16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498348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9E3F2"/>
                </a:solidFill>
                <a:latin typeface="微软雅黑" panose="020B0503020204020204" charset="-122"/>
              </a:rPr>
              <a:t>• 远距离位置仍可能预测不准
• 固定 Block Size 不一定适合所有负载
• 最终速度取决于草稿、验证与硬件的共同成本</a:t>
            </a:r>
            <a:endParaRPr sz="1200" b="0" i="0">
              <a:solidFill>
                <a:srgbClr val="D9E3F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72200" y="3611880"/>
            <a:ext cx="47548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DBF9F"/>
                </a:solidFill>
                <a:latin typeface="微软雅黑" panose="020B0503020204020204" charset="-122"/>
              </a:rPr>
              <a:t>论文与代码</a:t>
            </a:r>
            <a:endParaRPr sz="1600" b="1" i="0">
              <a:solidFill>
                <a:srgbClr val="1DBF9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2200" y="4041648"/>
            <a:ext cx="49377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Paper: arXiv:2602.06036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72200" y="4434840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B5C5"/>
                </a:solidFill>
                <a:latin typeface="微软雅黑" panose="020B0503020204020204" charset="-122"/>
              </a:rPr>
              <a:t>https://arxiv.org/abs/2602.06036</a:t>
            </a:r>
            <a:endParaRPr sz="105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2200" y="4800600"/>
            <a:ext cx="493776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Code: github.com/z-lab/dflash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5193792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AAB5C5"/>
                </a:solidFill>
                <a:latin typeface="微软雅黑" panose="020B0503020204020204" charset="-122"/>
              </a:rPr>
              <a:t>https://github.com/z-lab/dflash</a:t>
            </a:r>
            <a:endParaRPr sz="105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5760720"/>
            <a:ext cx="10515600" cy="438912"/>
          </a:xfrm>
          <a:prstGeom prst="roundRect">
            <a:avLst>
              <a:gd name="adj" fmla="val 12000"/>
            </a:avLst>
          </a:prstGeom>
          <a:solidFill>
            <a:srgbClr val="213047"/>
          </a:solidFill>
          <a:ln w="12700">
            <a:solidFill>
              <a:srgbClr val="21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788152"/>
            <a:ext cx="101498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汇报结论：并行性降低草稿延迟，目标特征提升草稿质量，验证机制保证输出正确性。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AB5C5"/>
                </a:solidFill>
                <a:latin typeface="微软雅黑" panose="020B0503020204020204" charset="-122"/>
              </a:rPr>
              <a:t>DFlash · 5 分钟组会汇报</a:t>
            </a:r>
            <a:endParaRPr sz="9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AB5C5"/>
                </a:solidFill>
                <a:latin typeface="微软雅黑" panose="020B0503020204020204" charset="-122"/>
              </a:rPr>
              <a:t>08</a:t>
            </a:r>
            <a:endParaRPr sz="900" b="0" i="0">
              <a:solidFill>
                <a:srgbClr val="AAB5C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2283</Words>
  <Application>WPS 演示</Application>
  <PresentationFormat>On-screen Show (4:3)</PresentationFormat>
  <Paragraphs>334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DFlash 五分钟组会汇报</dc:title>
  <dc:creator>OpenAI</dc:creator>
  <cp:keywords>DFlash, speculative decoding, block diffusion, KV injection</cp:keywords>
  <dc:description>generated using python-pptx</dc:description>
  <dc:subject>DFlash: Block Diffusion for Flash Speculative Decoding</dc:subject>
  <cp:lastModifiedBy>。。。</cp:lastModifiedBy>
  <cp:revision>2</cp:revision>
  <dcterms:created xsi:type="dcterms:W3CDTF">2013-01-27T09:14:00Z</dcterms:created>
  <dcterms:modified xsi:type="dcterms:W3CDTF">2026-10-21T16:42:26Z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D6BE27B141FE4143A22FBC1A7AAF58AD_12</vt:lpwstr>
  </property>
  <property fmtid="{D5CDD505-2E9C-101B-9397-08002B2CF9AE}" pid="3" name="KSOProductBuildVer">
    <vt:lpwstr>2052-12.1.0.28505</vt:lpwstr>
  </property>
</Properties>
</file>