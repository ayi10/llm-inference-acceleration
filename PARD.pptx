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1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2277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92240"/>
            <a:ext cx="1092708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55624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PARD: Parallel Draft Model Adaptation</a:t>
            </a:r>
            <a:endParaRPr lang="en-US" sz="68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1133856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PARD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58952" y="1929384"/>
            <a:ext cx="62179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Accelerating LLM Inference with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Low-Cost Parallel Draft Model Adaptation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86384" y="3867912"/>
            <a:ext cx="6035040" cy="5029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关键词：Speculative Decoding · Parallel Draft · COD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18120" y="141732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Draft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253728" y="159105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829800" y="141732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58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Target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EA58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18120" y="2743200"/>
            <a:ext cx="3429000" cy="54864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B  C  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955280" y="2331720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一次并行预测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PARD paper, arXiv:2504.18583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585448" y="653796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研究背景：为什么需要 Speculative Decoding？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79552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自回归解码一次通常只前进一个 token，Target forward 很昂贵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Autoregressive </a:t>
            </a:r>
            <a:r>
              <a:rPr lang="en-US" altLang="zh-CN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Decoding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874520"/>
            <a:ext cx="12801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Prefix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27632" y="2377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2743200"/>
            <a:ext cx="1280160" cy="566928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A58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Target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A58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Forward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58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A → Target → B → Target → 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84048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 tokens = K serial Target forwards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1325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Speculative Decoding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1874520"/>
            <a:ext cx="1280160" cy="566928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Draft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Model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73568" y="196596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549640" y="1874520"/>
            <a:ext cx="1874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 B  C  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候选 token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235440" y="24871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80960" y="2898648"/>
            <a:ext cx="2331720" cy="685800"/>
          </a:xfrm>
          <a:prstGeom prst="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Target 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一次并行验证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80960" y="3840480"/>
            <a:ext cx="2331720" cy="5943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  ✓  ✓  ✗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接受 A B 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11680" y="5074920"/>
            <a:ext cx="8138160" cy="731520"/>
          </a:xfrm>
          <a:prstGeom prst="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生成：未来 token 未知 → 必须串行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验证：候选 token 已知 → 可一次前向并行计算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Source: Leviathan et al., ICML 2023; PARD paper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1585448" y="653796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核心动机：Target 并行了，但 Draft 仍然串行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79552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Vanilla SD 减少了 Target forward，却留下了新的 draft bottleneck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4480560" cy="438912"/>
          </a:xfrm>
          <a:prstGeom prst="rect">
            <a:avLst/>
          </a:prstGeom>
          <a:solidFill>
            <a:srgbClr val="FFEDD5"/>
          </a:solidFill>
          <a:ln w="12700">
            <a:solidFill>
              <a:srgbClr val="FFEDD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A58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Vanilla Speculative Decoding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51560" y="1901952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Prefix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17320" y="23134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615184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Draft Fwd 1 → 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302666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273552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Draft Fwd 2 → 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37360" y="3685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931920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Draft Fwd 3 → 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37360" y="43434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590288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Draft Fwd 4 → 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54680" y="35295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Target 一次验证 ABCD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15000" y="1234440"/>
            <a:ext cx="2103120" cy="43891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时间开销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623560" y="1993392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VSD:  K × Tᴅ + Tᴛ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29400" y="276148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623560" y="3383280"/>
            <a:ext cx="2743200" cy="74980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PARD 目标: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× Tᴅ + Tᴛ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915400" y="1234440"/>
            <a:ext cx="219456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核心问题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641080" y="1993392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能不能把 Draft 的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 次自回归生成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变成一次并行预测？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41080" y="3794760"/>
            <a:ext cx="269748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PARD 的答案：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Parallel Draft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5379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Source: PARD paper, arXiv:2504.18583 / OpenReview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1585448" y="653796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方法一：Parallel Draft 如何起作用？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79552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 MASK 占位未来未知 token，一次 forward 同时得到多个候选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2161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 Draft：串行生成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783080"/>
            <a:ext cx="12801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Prefix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27632" y="221284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578608"/>
            <a:ext cx="822960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27632" y="29992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3364992"/>
            <a:ext cx="822960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27632" y="378561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4151376"/>
            <a:ext cx="822960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27632" y="4572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4937760"/>
            <a:ext cx="822960" cy="402336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" y="5486400"/>
            <a:ext cx="3200400" cy="402336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tokens = 4 次 Draft Forward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9160" y="297180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58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19472" y="354787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A58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00800" y="121615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PARD：一次并行预测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1965960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59168" y="1965960"/>
            <a:ext cx="80467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喜欢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991856" y="1965960"/>
            <a:ext cx="53035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吃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41664" y="1965960"/>
            <a:ext cx="713232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[M]₀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82912" y="1965960"/>
            <a:ext cx="713232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[M]₁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424160" y="1965960"/>
            <a:ext cx="713232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[M]₂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06640" y="2816352"/>
            <a:ext cx="269748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 Draft Forward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549640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537960" y="3886200"/>
            <a:ext cx="1005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h吃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+1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909560" y="3886200"/>
            <a:ext cx="1005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hM0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+2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81160" y="3886200"/>
            <a:ext cx="1005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hM1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+3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652760" y="3886200"/>
            <a:ext cx="1005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hM2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+4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263640" y="5349240"/>
            <a:ext cx="5440680" cy="53035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重点：后面的 MASK 看到的是“MASK 表示”，不是前面预测出的真实 token，因此不用等待。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379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Source: PARD paper, arXiv:2504.18583 / OpenReview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1585448" y="653796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方法二：Parallel Draft 是怎么训练出来的？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79552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训练目标：让 Draft 学会“跨过未知 token”预测更远未来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真实训练文本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63240" y="1115568"/>
            <a:ext cx="53492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   喜欢   吃   苹果   。   今天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732520" y="1234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用真实未来 token 作为监督标签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251460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普通 +1 预测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0" y="192024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 喜欢 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69480" y="196596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818120" y="1920240"/>
            <a:ext cx="1097280" cy="43891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苹果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0" y="19933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Loss_1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971800"/>
            <a:ext cx="2514600" cy="438912"/>
          </a:xfrm>
          <a:prstGeom prst="rect">
            <a:avLst/>
          </a:prstGeom>
          <a:solidFill>
            <a:srgbClr val="FFEDD5"/>
          </a:solidFill>
          <a:ln w="12700">
            <a:solidFill>
              <a:srgbClr val="FFEDD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58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 加 1 个 MASK：预测 +2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297180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 喜欢 吃 [MASK]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69480" y="301752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818120" y="2971800"/>
            <a:ext cx="1097280" cy="438912"/>
          </a:xfrm>
          <a:prstGeom prst="rect">
            <a:avLst/>
          </a:prstGeom>
          <a:solidFill>
            <a:srgbClr val="FFEDD5"/>
          </a:solidFill>
          <a:ln w="12700">
            <a:solidFill>
              <a:srgbClr val="FFEDD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58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0" y="3044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A58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Loss_2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4023360"/>
            <a:ext cx="2514600" cy="43891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③ 加 2 个 MASK：预测 +3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0" y="402336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 喜欢 吃 [MASK] [MASK]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69480" y="40690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818120" y="4023360"/>
            <a:ext cx="1097280" cy="43891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今天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44000" y="4096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C3AE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Loss_3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5074920"/>
            <a:ext cx="9875520" cy="53035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训练后：没有 MASK → 猜 +1；1 个 MASK → 猜 +2；2 个 MASK → 猜 +3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965960" y="5742432"/>
            <a:ext cx="8229600" cy="420624"/>
          </a:xfrm>
          <a:prstGeom prst="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问题：如果每个预测距离都完整训练，训练位置会从 N 增加到约 K×N。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379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Source: PARD paper, arXiv:2504.18583 / OpenReview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1585448" y="653796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方法三：COD 降低训练成本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Naive Mask Training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22860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286000"/>
            <a:ext cx="22860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2788920"/>
            <a:ext cx="22860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2918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3291840"/>
            <a:ext cx="228600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4069080"/>
            <a:ext cx="2834640" cy="59436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每个距离都完整训练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≈ K × 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64179" y="12915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COD Retention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6000" y="178085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53200" y="1780856"/>
            <a:ext cx="228600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30640" y="17625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96000" y="228377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53200" y="2283776"/>
            <a:ext cx="160020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930640" y="22654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6000" y="278669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53200" y="2786696"/>
            <a:ext cx="11201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30640" y="27684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49%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96000" y="3289616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53200" y="3289616"/>
            <a:ext cx="77724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930640" y="327132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34%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8168" y="4046220"/>
            <a:ext cx="3017520" cy="59436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越远的预测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保留越少训练位置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80160" y="5897880"/>
            <a:ext cx="969264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 = 0.7，最低保留率 0.2；论文报告约 3× adaptation training efficiency improvement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379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Source: PARD paper, arXiv:2504.18583 / OpenReview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1585448" y="653796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实验结果：PARD 到底带来了什么？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79552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只看两个结论：更快了吗？并行 Draft 质量有没有明显变差？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2960" y="1261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更快了吗？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1673352"/>
            <a:ext cx="429768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Qwen2.5-7B 平均 Speedup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2768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2331720"/>
            <a:ext cx="948906" cy="3200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59552" y="231343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1.00×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9169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VSD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2971800"/>
            <a:ext cx="1869344" cy="320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59552" y="295351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1.97×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5570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3611880"/>
            <a:ext cx="301752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59552" y="3593592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3.18×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572000"/>
            <a:ext cx="4023360" cy="74980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PARD 不只是比 AR 快，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也明显快于 Vanilla SD。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1261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 Draft 质量掉了吗？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00800" y="1673352"/>
            <a:ext cx="4297680" cy="384048"/>
          </a:xfrm>
          <a:prstGeom prst="rect">
            <a:avLst/>
          </a:prstGeom>
          <a:solidFill>
            <a:srgbClr val="FFEDD5"/>
          </a:solidFill>
          <a:ln w="12700">
            <a:solidFill>
              <a:srgbClr val="FFEDD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58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Acceptance Ratio（越高越好）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2331720"/>
            <a:ext cx="1417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HumanEval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0" y="2331720"/>
            <a:ext cx="1234440" cy="384048"/>
          </a:xfrm>
          <a:prstGeom prst="rect">
            <a:avLst/>
          </a:prstGeom>
          <a:solidFill>
            <a:srgbClr val="FFEDD5"/>
          </a:solidFill>
          <a:ln w="12700">
            <a:solidFill>
              <a:srgbClr val="FFEDD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VSD  0.944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46920" y="2331720"/>
            <a:ext cx="123444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PARD 0.936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063240"/>
            <a:ext cx="1417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GSM8K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0" y="3063240"/>
            <a:ext cx="1234440" cy="384048"/>
          </a:xfrm>
          <a:prstGeom prst="rect">
            <a:avLst/>
          </a:prstGeom>
          <a:solidFill>
            <a:srgbClr val="FFEDD5"/>
          </a:solidFill>
          <a:ln w="12700">
            <a:solidFill>
              <a:srgbClr val="FFEDD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VSD  0.895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46920" y="3063240"/>
            <a:ext cx="123444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PARD 0.889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4023360"/>
            <a:ext cx="4297680" cy="53035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并行预测导致的 Acceptance Ratio 只小幅下降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379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Source: PARD paper, evaluation on vLLM; Qwen2.5-7B result from paper table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1585448" y="653796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启示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92448" y="1600447"/>
            <a:ext cx="3017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启示 1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Speculative Decoding 的瓶颈不只有 Target，也要关注 Draft latency。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01208" y="2816352"/>
            <a:ext cx="3017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启示 2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Draft 不一定必须自回归；可以转化为并行未来预测问题。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85397" y="4389367"/>
            <a:ext cx="3017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启示 3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 err="1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并行度越高，预测越远，准确率越难保持</a:t>
            </a:r>
            <a:r>
              <a:rPr lang="en-US" sz="1500" dirty="0">
                <a:solidFill>
                  <a:srgbClr val="0F1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；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Source: PARD paper, arXiv:2504.18583 / OpenReview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1585448" y="653796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624</Words>
  <Application>Microsoft Office PowerPoint</Application>
  <PresentationFormat>宽屏</PresentationFormat>
  <Paragraphs>188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Noto Sans CJK SC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PARD 组会汇报</dc:title>
  <dc:subject>PARD group presentation</dc:subject>
  <dc:creator>OpenAI</dc:creator>
  <cp:lastModifiedBy>熠 姜</cp:lastModifiedBy>
  <cp:revision>2</cp:revision>
  <dcterms:created xsi:type="dcterms:W3CDTF">2026-09-16T14:48:57Z</dcterms:created>
  <dcterms:modified xsi:type="dcterms:W3CDTF">2026-09-17T15:33:12Z</dcterms:modified>
</cp:coreProperties>
</file>