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今天介绍 DeepSeek 的 DSpark，核心解决两个问题：并行草稿后部不准确，以及高并发时验证资源浪费。它将半自回归生成与置信度调度结合。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DFlash 的优势是一次并行预测多个 Token，但越远的 Token 缺少本块内前序 Token 的条件依赖，准确率可能下降。即使生成很长，高并发时把低置信度的尾部也交给大模型验证，会占用宝贵的 batch 容量。DSpark 分别解决这两个问题。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整套流程从目标模型给出的上下文特征开始。DFlash Backbone 并行计算草稿位置，再接一个非常轻的顺序头，引入相邻 Token 的依赖。与此同时，置信度头估计接受可能性，调度器结合硬件吞吐曲线给每个请求分配不同的验证长度。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【方法一（约50秒）】这一页沿用原图的左右两部分。左边：DFlash 的重型 Backbone 只运行一次，产生 U1 到 U5 五组词表 Logits，而不是直接产生最终五个 Token。假设第二个位置原始 logits 里 problem=1.9 高于 course=1.6，直接采样可能选择 problem。右边：但已经采样的上一个 Token 为 of。Markov Head 查 W1[of] 并乘 W2，产生低秩转移偏置；示例中为 course 加0.6、problem 减0.3。合并后 course 变2.2、problem 变1.6，于是可能采样 course。注意这些 Logits 是讲原理的假设数值，不是论文实测。之后第三、第四个位置照此顺序处理，但无需重跑重型 Backbone。论文还提出 RNN Head，可保留更长块内历史，代价更高。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【方法二（约65秒）】先讲清置信头放在哪里：DSpark 已经用并行 Backbone 和 Markov/RNN 顺序头生成一块草稿 Token 后、把草稿送给目标模型验证前，Confidence Head 对每个草稿位置打分。它的输入是该位置的 Backbone 隐状态 h_k，以及前一个已采样 Token 的 Markov embedding；输出 c_k。它不负责生成 Token，也不负责最终判断接收或拒绝，只估计“前面位置都被接受时，第 k 个草稿 Token 通过目标模型验证的概率”。</a:t>
            </a:r>
          </a:p>
          <a:p>
            <a:r>
              <a:t>接着把 c_k 连乘，得到 a_k，表示前 k 个 Token 组成的整个前缀都能通过验证的估计概率。调度器跨请求比较这些前缀存活率，并结合 GPU profiling 得到的吞吐曲线，决定每个请求应该提交多长的前缀；被选中的前缀才送进目标模型做真正验证，最终接受/拒绝仍由目标模型决定。整条链路是：草稿生成 → Confidence Head 打分 → 计算前缀存活率 → 调度器选择验证长度 → 目标模型验证。</a:t>
            </a:r>
          </a:p>
          <a:p>
            <a:r>
              <a:t>例子中 c 为 0.90、0.80、0.60、0.40，所以 a 依次为 0.90、0.72、0.432、0.1728。跨请求示例 A 为 0.90、0.72、0.43，B 为 0.80、0.40、0.10；排序后结合 Θ=τ(B)×SPS(B) 选择截止位置。停在 A3 时，示意为 A 验证 3 个、B 验证 1 个。数值用于解释流程，不是论文实测决策。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论文离线结果：Qwen3-8B 在 HumanEval 的平均接受长度，EAGLE-3 4.33、DFlash 4.64、DSpark 5.52。这里接受长度含 bonus token，并且用于质量比较时关闭了调度。在线生产流量下，和 MTP-1 比，在匹配吞吐的条件下每用户生成速度提高约 60% 到 85%。不能把这两个测试混为一谈。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最后总结：DSpark 一方面用轻量顺序头修复 DFlash 纯并行草稿的块内依赖，另一方面用置信度和吞吐 profile 进行自适应验证。它的启发是，研究推测解码不仅要提高平均接受长度，也要关注目标 GPU 每秒真正完成多少 token。值得探索的方面包括更强但仍低开销的依赖建模、置信度校准与在线负载适应。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8872" cy="4023360"/>
          </a:xfrm>
          <a:prstGeom prst="rect">
            <a:avLst/>
          </a:prstGeom>
          <a:solidFill>
            <a:srgbClr val="15A9BD"/>
          </a:solidFill>
          <a:ln w="12700">
            <a:solidFill>
              <a:srgbClr val="15A9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78992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</a:t>
            </a:r>
            <a:endParaRPr lang="en-US" sz="53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E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Confidence-Scheduled Speculative Decoding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77977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ED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Semi-Autoregressive Generation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16966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ABB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· arXiv 2026  |  5 分钟组会汇报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5084064"/>
            <a:ext cx="9966960" cy="649224"/>
          </a:xfrm>
          <a:prstGeom prst="roundRect">
            <a:avLst>
              <a:gd name="adj" fmla="val 19718"/>
            </a:avLst>
          </a:prstGeom>
          <a:solidFill>
            <a:srgbClr val="223A66"/>
          </a:solidFill>
          <a:ln w="11430">
            <a:solidFill>
              <a:srgbClr val="22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5212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核心：更准确地生成草稿 + 更经济地验证草稿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C67D8"/>
          </a:solidFill>
          <a:ln w="12700">
            <a:solidFill>
              <a:srgbClr val="2C6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动机：长草稿 ≠ 高吞吐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9050">
            <a:solidFill>
              <a:srgbClr val="DFE6F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5分钟论文分享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5780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1928" y="1783080"/>
            <a:ext cx="525780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66544"/>
            <a:ext cx="4663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问题一｜并行草稿尾部预测不准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14400" y="2679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DFlash 一次 Forward 预测整个 Block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2688" y="3319272"/>
            <a:ext cx="685800" cy="566928"/>
          </a:xfrm>
          <a:prstGeom prst="roundRect">
            <a:avLst>
              <a:gd name="adj" fmla="val 22581"/>
            </a:avLst>
          </a:prstGeom>
          <a:solidFill>
            <a:srgbClr val="DDF5EE"/>
          </a:solidFill>
          <a:ln w="11430">
            <a:solidFill>
              <a:srgbClr val="B9E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x₁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810512" y="3319272"/>
            <a:ext cx="685800" cy="566928"/>
          </a:xfrm>
          <a:prstGeom prst="roundRect">
            <a:avLst>
              <a:gd name="adj" fmla="val 22581"/>
            </a:avLst>
          </a:prstGeom>
          <a:solidFill>
            <a:srgbClr val="DDF5EE"/>
          </a:solidFill>
          <a:ln w="11430">
            <a:solidFill>
              <a:srgbClr val="B9E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688336" y="3319272"/>
            <a:ext cx="685800" cy="566928"/>
          </a:xfrm>
          <a:prstGeom prst="roundRect">
            <a:avLst>
              <a:gd name="adj" fmla="val 22581"/>
            </a:avLst>
          </a:prstGeom>
          <a:solidFill>
            <a:srgbClr val="FFF0D8"/>
          </a:solidFill>
          <a:ln w="11430">
            <a:solidFill>
              <a:srgbClr val="F3D5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8336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x₃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66160" y="3319272"/>
            <a:ext cx="685800" cy="566928"/>
          </a:xfrm>
          <a:prstGeom prst="roundRect">
            <a:avLst>
              <a:gd name="adj" fmla="val 22581"/>
            </a:avLst>
          </a:prstGeom>
          <a:solidFill>
            <a:srgbClr val="FFF0D8"/>
          </a:solidFill>
          <a:ln w="11430">
            <a:solidFill>
              <a:srgbClr val="F3D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x₄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443984" y="3319272"/>
            <a:ext cx="685800" cy="566928"/>
          </a:xfrm>
          <a:prstGeom prst="roundRect">
            <a:avLst>
              <a:gd name="adj" fmla="val 22581"/>
            </a:avLst>
          </a:prstGeom>
          <a:solidFill>
            <a:srgbClr val="FBE1E1"/>
          </a:solidFill>
          <a:ln w="11430">
            <a:solidFill>
              <a:srgbClr val="EFC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43984" y="3438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41832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后续位置缺少块内已采样 Token 的依赖信息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56248" y="2066544"/>
            <a:ext cx="4617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问题二｜验证低质量尾部浪费算力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56248" y="267919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每个请求都验证固定长度，成本不划算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74536" y="3255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607808" y="3246120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139B75"/>
          </a:solidFill>
          <a:ln w="11430">
            <a:solidFill>
              <a:srgbClr val="139B7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57032" y="3246120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139B75"/>
          </a:solidFill>
          <a:ln w="11430">
            <a:solidFill>
              <a:srgbClr val="139B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06256" y="3246120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139B75"/>
          </a:solidFill>
          <a:ln w="11430">
            <a:solidFill>
              <a:srgbClr val="139B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55480" y="3246120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139B75"/>
          </a:solidFill>
          <a:ln w="11430">
            <a:solidFill>
              <a:srgbClr val="139B7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04704" y="3246120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139B75"/>
          </a:solidFill>
          <a:ln w="11430">
            <a:solidFill>
              <a:srgbClr val="139B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37398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B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607808" y="3730752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E69C36"/>
          </a:solidFill>
          <a:ln w="11430">
            <a:solidFill>
              <a:srgbClr val="E69C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57032" y="3730752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E69C36"/>
          </a:solidFill>
          <a:ln w="11430">
            <a:solidFill>
              <a:srgbClr val="E69C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3730752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E7EAF0"/>
          </a:solidFill>
          <a:ln w="11430">
            <a:solidFill>
              <a:srgbClr val="E7EA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55480" y="3730752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E7EAF0"/>
          </a:solidFill>
          <a:ln w="11430">
            <a:solidFill>
              <a:srgbClr val="E7EA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04704" y="3730752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E7EAF0"/>
          </a:solidFill>
          <a:ln w="11430">
            <a:solidFill>
              <a:srgbClr val="E7EA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 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607808" y="4215384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2C67D8"/>
          </a:solidFill>
          <a:ln w="11430">
            <a:solidFill>
              <a:srgbClr val="2C67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57032" y="4215384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2C67D8"/>
          </a:solidFill>
          <a:ln w="11430">
            <a:solidFill>
              <a:srgbClr val="2C67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06256" y="4215384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2C67D8"/>
          </a:solidFill>
          <a:ln w="11430">
            <a:solidFill>
              <a:srgbClr val="2C67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55480" y="4215384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2C67D8"/>
          </a:solidFill>
          <a:ln w="11430">
            <a:solidFill>
              <a:srgbClr val="2C67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04704" y="4215384"/>
            <a:ext cx="539496" cy="292608"/>
          </a:xfrm>
          <a:prstGeom prst="roundRect">
            <a:avLst>
              <a:gd name="adj" fmla="val 43750"/>
            </a:avLst>
          </a:prstGeom>
          <a:solidFill>
            <a:srgbClr val="E7EAF0"/>
          </a:solidFill>
          <a:ln w="11430">
            <a:solidFill>
              <a:srgbClr val="E7EA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555040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9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目标：让真正被接受的 Token / 秒更多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C67D8"/>
          </a:solidFill>
          <a:ln w="12700">
            <a:solidFill>
              <a:srgbClr val="2C6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总体架构：两个协同模块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9050">
            <a:solidFill>
              <a:srgbClr val="DFE6F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5分钟论文分享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95144"/>
            <a:ext cx="20574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目标模型上下文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9443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Target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9464" y="2898648"/>
            <a:ext cx="265176" cy="0"/>
          </a:xfrm>
          <a:prstGeom prst="line">
            <a:avLst/>
          </a:prstGeom>
          <a:noFill/>
          <a:ln w="26670">
            <a:solidFill>
              <a:srgbClr val="2C67D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52928" y="2295144"/>
            <a:ext cx="20574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 Backbone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44368" y="29443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DFlash block parallel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19472" y="2898648"/>
            <a:ext cx="265176" cy="0"/>
          </a:xfrm>
          <a:prstGeom prst="line">
            <a:avLst/>
          </a:prstGeom>
          <a:noFill/>
          <a:ln w="26670">
            <a:solidFill>
              <a:srgbClr val="2C67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02936" y="2295144"/>
            <a:ext cx="2057400" cy="1280160"/>
          </a:xfrm>
          <a:prstGeom prst="roundRect">
            <a:avLst>
              <a:gd name="adj" fmla="val 10000"/>
            </a:avLst>
          </a:prstGeom>
          <a:solidFill>
            <a:srgbClr val="E4F5F1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94376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9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轻量顺序头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94376" y="29443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Markov / RNN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69480" y="2898648"/>
            <a:ext cx="265176" cy="0"/>
          </a:xfrm>
          <a:prstGeom prst="line">
            <a:avLst/>
          </a:prstGeom>
          <a:noFill/>
          <a:ln w="26670">
            <a:solidFill>
              <a:srgbClr val="2C67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52944" y="2295144"/>
            <a:ext cx="20574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44384" y="29443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Acceptance score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19488" y="2898648"/>
            <a:ext cx="265176" cy="0"/>
          </a:xfrm>
          <a:prstGeom prst="line">
            <a:avLst/>
          </a:prstGeom>
          <a:noFill/>
          <a:ln w="26670">
            <a:solidFill>
              <a:srgbClr val="2C67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02952" y="2295144"/>
            <a:ext cx="2057400" cy="1280160"/>
          </a:xfrm>
          <a:prstGeom prst="roundRect">
            <a:avLst>
              <a:gd name="adj" fmla="val 10000"/>
            </a:avLst>
          </a:prstGeom>
          <a:solidFill>
            <a:srgbClr val="EAF2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4392" y="25146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验证调度器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94392" y="294436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Hardware-aware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34440" y="4297680"/>
            <a:ext cx="4343400" cy="996696"/>
          </a:xfrm>
          <a:prstGeom prst="roundRect">
            <a:avLst>
              <a:gd name="adj" fmla="val 12844"/>
            </a:avLst>
          </a:prstGeom>
          <a:solidFill>
            <a:srgbClr val="E8F7F1"/>
          </a:solidFill>
          <a:ln w="11430">
            <a:solidFill>
              <a:srgbClr val="C3E8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63040" y="44531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9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① 提升草稿质量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583680" y="4297680"/>
            <a:ext cx="4343400" cy="996696"/>
          </a:xfrm>
          <a:prstGeom prst="roundRect">
            <a:avLst>
              <a:gd name="adj" fmla="val 12844"/>
            </a:avLst>
          </a:prstGeom>
          <a:solidFill>
            <a:srgbClr val="EAF2FF"/>
          </a:solidFill>
          <a:ln w="11430">
            <a:solidFill>
              <a:srgbClr val="D2E1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4453128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② 降低验证浪费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51560" y="5678424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保持并行计算优势，同时让每个请求验证“值得验证”的前缀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C67D8"/>
          </a:solidFill>
          <a:ln w="12700">
            <a:solidFill>
              <a:srgbClr val="2C6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SEMI-AUTOREGRESSIVE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方法一：半自回归草稿生成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9050">
            <a:solidFill>
              <a:srgbClr val="DFE6F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5分钟论文分享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Rounded Rectangle 7"/>
          <p:cNvSpPr/>
          <p:nvPr/>
        </p:nvSpPr>
        <p:spPr>
          <a:xfrm>
            <a:off x="685800" y="1810512"/>
            <a:ext cx="10817352" cy="340156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65960"/>
            <a:ext cx="4983480" cy="43891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C67D8"/>
                </a:solidFill>
                <a:latin typeface="Microsoft YaHei"/>
              </a:rPr>
              <a:t>①  一次 Forward：并行生成基础 Logits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4617720" cy="43891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39B75"/>
                </a:solidFill>
                <a:latin typeface="Microsoft YaHei"/>
              </a:rPr>
              <a:t>②  逐 Token：Markov Head 修正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" y="2596896"/>
            <a:ext cx="731520" cy="502920"/>
          </a:xfrm>
          <a:prstGeom prst="roundRect">
            <a:avLst>
              <a:gd name="adj" fmla="val 11000"/>
            </a:avLst>
          </a:prstGeom>
          <a:solidFill>
            <a:srgbClr val="E9F1FE"/>
          </a:solidFill>
          <a:ln w="10160">
            <a:solidFill>
              <a:srgbClr val="C4D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688336"/>
            <a:ext cx="731520" cy="30175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139"/>
                </a:solidFill>
                <a:latin typeface="Microsoft YaHei"/>
              </a:rPr>
              <a:t>U1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2596896"/>
            <a:ext cx="731520" cy="502920"/>
          </a:xfrm>
          <a:prstGeom prst="roundRect">
            <a:avLst>
              <a:gd name="adj" fmla="val 11000"/>
            </a:avLst>
          </a:prstGeom>
          <a:solidFill>
            <a:srgbClr val="E9F1FE"/>
          </a:solidFill>
          <a:ln w="10160">
            <a:solidFill>
              <a:srgbClr val="C4D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6816" y="2688336"/>
            <a:ext cx="731520" cy="30175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139"/>
                </a:solidFill>
                <a:latin typeface="Microsoft YaHei"/>
              </a:rPr>
              <a:t>U2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6936" y="2596896"/>
            <a:ext cx="731520" cy="502920"/>
          </a:xfrm>
          <a:prstGeom prst="roundRect">
            <a:avLst>
              <a:gd name="adj" fmla="val 11000"/>
            </a:avLst>
          </a:prstGeom>
          <a:solidFill>
            <a:srgbClr val="E9F1FE"/>
          </a:solidFill>
          <a:ln w="10160">
            <a:solidFill>
              <a:srgbClr val="C4D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2688336"/>
            <a:ext cx="731520" cy="30175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139"/>
                </a:solidFill>
                <a:latin typeface="Microsoft YaHei"/>
              </a:rPr>
              <a:t>U3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77056" y="2596896"/>
            <a:ext cx="731520" cy="502920"/>
          </a:xfrm>
          <a:prstGeom prst="roundRect">
            <a:avLst>
              <a:gd name="adj" fmla="val 11000"/>
            </a:avLst>
          </a:prstGeom>
          <a:solidFill>
            <a:srgbClr val="E9F1FE"/>
          </a:solidFill>
          <a:ln w="10160">
            <a:solidFill>
              <a:srgbClr val="C4D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77056" y="2688336"/>
            <a:ext cx="731520" cy="30175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139"/>
                </a:solidFill>
                <a:latin typeface="Microsoft YaHei"/>
              </a:rPr>
              <a:t>U4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37176" y="2596896"/>
            <a:ext cx="731520" cy="502920"/>
          </a:xfrm>
          <a:prstGeom prst="roundRect">
            <a:avLst>
              <a:gd name="adj" fmla="val 11000"/>
            </a:avLst>
          </a:prstGeom>
          <a:solidFill>
            <a:srgbClr val="E9F1FE"/>
          </a:solidFill>
          <a:ln w="10160">
            <a:solidFill>
              <a:srgbClr val="C4D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2688336"/>
            <a:ext cx="731520" cy="30175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139"/>
                </a:solidFill>
                <a:latin typeface="Microsoft YaHei"/>
              </a:rPr>
              <a:t>U5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3246120"/>
            <a:ext cx="4846320" cy="35661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58C"/>
                </a:solidFill>
                <a:latin typeface="Microsoft YaHei"/>
              </a:rPr>
              <a:t>5 个位置的 Logits 同时得到，并非最终 Token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712463"/>
            <a:ext cx="4745736" cy="1152144"/>
          </a:xfrm>
          <a:prstGeom prst="roundRect">
            <a:avLst>
              <a:gd name="adj" fmla="val 11000"/>
            </a:avLst>
          </a:prstGeom>
          <a:solidFill>
            <a:srgbClr val="F2F6FD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2144" y="3776472"/>
            <a:ext cx="4462272" cy="283464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67D8"/>
                </a:solidFill>
                <a:latin typeface="Microsoft YaHei"/>
              </a:rPr>
              <a:t>例：位置 2 的原始分数（示意）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69663"/>
            <a:ext cx="4480560" cy="320040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139"/>
                </a:solidFill>
                <a:latin typeface="Microsoft YaHei"/>
              </a:rPr>
              <a:t>course 1.6    &lt;    problem 1.9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535424"/>
            <a:ext cx="4480560" cy="201168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8758C"/>
                </a:solidFill>
                <a:latin typeface="Microsoft YaHei"/>
              </a:rPr>
              <a:t>若直接采样，problem 分数更高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25312" y="3291840"/>
            <a:ext cx="420624" cy="0"/>
          </a:xfrm>
          <a:prstGeom prst="line">
            <a:avLst/>
          </a:prstGeom>
          <a:ln w="25400">
            <a:solidFill>
              <a:srgbClr val="2C6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6300216" y="3182112"/>
            <a:ext cx="164592" cy="219456"/>
          </a:xfrm>
          <a:prstGeom prst="chevron">
            <a:avLst/>
          </a:prstGeom>
          <a:solidFill>
            <a:srgbClr val="2C6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514600"/>
            <a:ext cx="4370832" cy="34747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2139"/>
                </a:solidFill>
                <a:latin typeface="Microsoft YaHei"/>
              </a:rPr>
              <a:t>已采样前一个 Token：x₁ = “of”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2944368"/>
            <a:ext cx="4507992" cy="438912"/>
          </a:xfrm>
          <a:prstGeom prst="roundRect">
            <a:avLst>
              <a:gd name="adj" fmla="val 11000"/>
            </a:avLst>
          </a:prstGeom>
          <a:solidFill>
            <a:srgbClr val="ECF8F3"/>
          </a:solidFill>
          <a:ln w="10160">
            <a:solidFill>
              <a:srgbClr val="C8E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3026664"/>
            <a:ext cx="4261104" cy="274320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9B75"/>
                </a:solidFill>
                <a:latin typeface="Microsoft YaHei"/>
              </a:rPr>
              <a:t>Δ = W₁[of]W₂  （低秩偏置）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0256" y="3465576"/>
            <a:ext cx="4407408" cy="30175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39"/>
                </a:solidFill>
                <a:latin typeface="Microsoft YaHei"/>
              </a:rPr>
              <a:t>course +0.6  /  problem −0.3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11112" y="3831336"/>
            <a:ext cx="4434840" cy="0"/>
          </a:xfrm>
          <a:prstGeom prst="line">
            <a:avLst/>
          </a:prstGeom>
          <a:ln w="12700">
            <a:solidFill>
              <a:srgbClr val="C8E8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20256" y="3950208"/>
            <a:ext cx="4407408" cy="329184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9B75"/>
                </a:solidFill>
                <a:latin typeface="Microsoft YaHei"/>
              </a:rPr>
              <a:t>修正后：course 2.2 &gt; problem 1.6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6248" y="4434840"/>
            <a:ext cx="4489704" cy="448056"/>
          </a:xfrm>
          <a:prstGeom prst="roundRect">
            <a:avLst>
              <a:gd name="adj" fmla="val 11000"/>
            </a:avLst>
          </a:prstGeom>
          <a:solidFill>
            <a:srgbClr val="E8F7F0"/>
          </a:solidFill>
          <a:ln w="10160">
            <a:solidFill>
              <a:srgbClr val="BC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526280"/>
            <a:ext cx="4297680" cy="25603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9B75"/>
                </a:solidFill>
                <a:latin typeface="Microsoft YaHei"/>
              </a:rPr>
              <a:t>→ 采样下一 Token：“course”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5358384"/>
            <a:ext cx="10332720" cy="384048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39"/>
                </a:solidFill>
                <a:latin typeface="Microsoft YaHei"/>
              </a:rPr>
              <a:t>重型 Backbone 只算一次；小型 Head 再按前一个 Token 逐位修正、采样。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5376" y="5797296"/>
            <a:ext cx="8595360" cy="26517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8758C"/>
                </a:solidFill>
                <a:latin typeface="Microsoft YaHei"/>
              </a:rPr>
              <a:t>公式：Ũₖ = Uₖ + W₁[xₖ₋₁]W₂   ｜   数值仅作流程示例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C67D8"/>
          </a:solidFill>
          <a:ln w="12700">
            <a:solidFill>
              <a:srgbClr val="2C67D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CONFIDENCE SCHEDULING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方法二：置信度调度验证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9050">
            <a:solidFill>
              <a:srgbClr val="DFE6F0"/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5分钟论文分享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841248" y="1719072"/>
            <a:ext cx="8906256" cy="384048"/>
          </a:xfrm>
          <a:prstGeom prst="rect">
            <a:avLst/>
          </a:prstGeom>
          <a:noFill/>
        </p:spPr>
        <p:txBody>
          <a:bodyPr wrap="non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72139"/>
                </a:solidFill>
                <a:latin typeface="Microsoft YaHei"/>
              </a:rPr>
              <a:t>① 用在哪里？草稿生成后、目标模型验证前；Confidence Head 只给每个草稿 Token 打分 cₖ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09928"/>
            <a:ext cx="1938528" cy="39319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C67D8"/>
                </a:solidFill>
                <a:latin typeface="Microsoft YaHei"/>
              </a:rPr>
              <a:t>aₖ = ∏ cᵢ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267712"/>
            <a:ext cx="2578608" cy="960120"/>
          </a:xfrm>
          <a:prstGeom prst="roundRect">
            <a:avLst>
              <a:gd name="adj" fmla="val 11000"/>
            </a:avLst>
          </a:prstGeom>
          <a:solidFill>
            <a:srgbClr val="EDF8F3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359152"/>
            <a:ext cx="2414016" cy="31089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139"/>
                </a:solidFill>
                <a:latin typeface="Microsoft YaHei"/>
              </a:rPr>
              <a:t>Token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788920"/>
            <a:ext cx="2414016" cy="246888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39"/>
                </a:solidFill>
                <a:latin typeface="Microsoft YaHei"/>
              </a:rPr>
              <a:t>c=0.90  a=90%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12464" y="2267712"/>
            <a:ext cx="2578608" cy="960120"/>
          </a:xfrm>
          <a:prstGeom prst="roundRect">
            <a:avLst>
              <a:gd name="adj" fmla="val 11000"/>
            </a:avLst>
          </a:prstGeom>
          <a:solidFill>
            <a:srgbClr val="EDF8F3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6" y="2359152"/>
            <a:ext cx="2414016" cy="31089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139"/>
                </a:solidFill>
                <a:latin typeface="Microsoft YaHei"/>
              </a:rPr>
              <a:t>Token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2788920"/>
            <a:ext cx="2414016" cy="246888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39"/>
                </a:solidFill>
                <a:latin typeface="Microsoft YaHei"/>
              </a:rPr>
              <a:t>c=0.80  a=72%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28816" y="2267712"/>
            <a:ext cx="2578608" cy="960120"/>
          </a:xfrm>
          <a:prstGeom prst="roundRect">
            <a:avLst>
              <a:gd name="adj" fmla="val 11000"/>
            </a:avLst>
          </a:prstGeom>
          <a:solidFill>
            <a:srgbClr val="FFF6E8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359152"/>
            <a:ext cx="2414016" cy="31089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139"/>
                </a:solidFill>
                <a:latin typeface="Microsoft YaHei"/>
              </a:rPr>
              <a:t>Token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788920"/>
            <a:ext cx="2414016" cy="246888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39"/>
                </a:solidFill>
                <a:latin typeface="Microsoft YaHei"/>
              </a:rPr>
              <a:t>c=0.60  a=43%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8" y="2267712"/>
            <a:ext cx="2578608" cy="960120"/>
          </a:xfrm>
          <a:prstGeom prst="roundRect">
            <a:avLst>
              <a:gd name="adj" fmla="val 11000"/>
            </a:avLst>
          </a:prstGeom>
          <a:solidFill>
            <a:srgbClr val="FFF0F0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359152"/>
            <a:ext cx="2414016" cy="31089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72139"/>
                </a:solidFill>
                <a:latin typeface="Microsoft YaHei"/>
              </a:rPr>
              <a:t>Token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788920"/>
            <a:ext cx="2414016" cy="246888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39"/>
                </a:solidFill>
                <a:latin typeface="Microsoft YaHei"/>
              </a:rPr>
              <a:t>c=0.40  a=17%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73552"/>
            <a:ext cx="10241280" cy="438912"/>
          </a:xfrm>
          <a:prstGeom prst="rect">
            <a:avLst/>
          </a:prstGeom>
          <a:noFill/>
        </p:spPr>
        <p:txBody>
          <a:bodyPr wrap="none" tIns="0" bIns="0" lIns="0" r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7A99"/>
                </a:solidFill>
                <a:latin typeface="Microsoft YaHei"/>
              </a:rPr>
              <a:t>输入：Backbone 隐状态 hₖ + 前一已采样 Token 的 Markov embedding；输出 cₖ（不是 Token 自身的生成概率）。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97A99"/>
                </a:solidFill>
                <a:latin typeface="Microsoft YaHei"/>
              </a:rPr>
              <a:t>cₖ 表示前面均被接受时第 k 个也被接受的概率；调度器将 cₖ 连乘成 aₖ，据此决定送去目标模型验证的前缀长度。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" y="3730752"/>
            <a:ext cx="10442448" cy="214884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0160">
            <a:solidFill>
              <a:srgbClr val="DAE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886200"/>
            <a:ext cx="9893808" cy="347472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C67D8"/>
                </a:solidFill>
                <a:latin typeface="Microsoft YaHei"/>
              </a:rPr>
              <a:t>②  跨请求选择：先按前缀存活率排序，再结合 GPU 成本决定截止位置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" y="4334256"/>
            <a:ext cx="4507992" cy="274320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139"/>
                </a:solidFill>
                <a:latin typeface="Microsoft YaHei"/>
              </a:rPr>
              <a:t>请求 A：0.90  →  0.72  →  0.43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334256"/>
            <a:ext cx="4462272" cy="274320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2139"/>
                </a:solidFill>
                <a:latin typeface="Microsoft YaHei"/>
              </a:rPr>
              <a:t>请求 B：0.80  →  0.40  →  0.10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33856" y="4736592"/>
            <a:ext cx="9857232" cy="0"/>
          </a:xfrm>
          <a:prstGeom prst="line">
            <a:avLst/>
          </a:prstGeom>
          <a:ln w="10160">
            <a:solidFill>
              <a:srgbClr val="DAE4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33856" y="4809744"/>
            <a:ext cx="10012680" cy="310896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72139"/>
                </a:solidFill>
                <a:latin typeface="Microsoft YaHei"/>
              </a:rPr>
              <a:t>跨请求排序：A₁(.90) → B₁(.80) → A₂(.72) → A₃(.43) → B₂(.40) 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" y="5212080"/>
            <a:ext cx="10012680" cy="274320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C67D8"/>
                </a:solidFill>
                <a:latin typeface="Microsoft YaHei"/>
              </a:rPr>
              <a:t>逐个纳入，计算 Θ = τ(B) × SPS(B)；预计吞吐首次下降便停止。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7008" y="5971032"/>
            <a:ext cx="9784080" cy="411480"/>
          </a:xfrm>
          <a:prstGeom prst="roundRect">
            <a:avLst>
              <a:gd name="adj" fmla="val 11000"/>
            </a:avLst>
          </a:prstGeom>
          <a:solidFill>
            <a:srgbClr val="E9F1FE"/>
          </a:solidFill>
          <a:ln w="10160">
            <a:solidFill>
              <a:srgbClr val="C3D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6025896"/>
            <a:ext cx="9427464" cy="274320"/>
          </a:xfrm>
          <a:prstGeom prst="rect">
            <a:avLst/>
          </a:prstGeom>
          <a:noFill/>
        </p:spPr>
        <p:txBody>
          <a:bodyPr wrap="square" tIns="18288" bIns="18288" lIns="18288" r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67D8"/>
                </a:solidFill>
                <a:latin typeface="Microsoft YaHei"/>
              </a:rPr>
              <a:t>示意：若停在 A₃，则请求 A 验证 3 个、请求 B 验证 1 个（而非等长）。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C67D8"/>
          </a:solidFill>
          <a:ln w="12700">
            <a:solidFill>
              <a:srgbClr val="2C6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实验结果：更长接受前缀，更快在线生成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9050">
            <a:solidFill>
              <a:srgbClr val="DFE6F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5分钟论文分享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4944" y="1819656"/>
            <a:ext cx="5349240" cy="3419856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5352" y="1819656"/>
            <a:ext cx="5230368" cy="3419856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 w="11430">
            <a:solidFill>
              <a:srgbClr val="DF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0482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离线：Qwen3-8B · HumanEval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9264" y="2743200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EAGLE-3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12848" y="2761488"/>
            <a:ext cx="1994021" cy="283464"/>
          </a:xfrm>
          <a:prstGeom prst="roundRect">
            <a:avLst>
              <a:gd name="adj" fmla="val 45161"/>
            </a:avLst>
          </a:prstGeom>
          <a:solidFill>
            <a:srgbClr val="9EAFC4"/>
          </a:solidFill>
          <a:ln w="11430">
            <a:solidFill>
              <a:srgbClr val="9EAF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715768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9264" y="3465576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DFlash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12848" y="3483864"/>
            <a:ext cx="2136781" cy="283464"/>
          </a:xfrm>
          <a:prstGeom prst="roundRect">
            <a:avLst>
              <a:gd name="adj" fmla="val 45161"/>
            </a:avLst>
          </a:prstGeom>
          <a:solidFill>
            <a:srgbClr val="5B91E8"/>
          </a:solidFill>
          <a:ln w="11430">
            <a:solidFill>
              <a:srgbClr val="5B91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438144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4.64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64" y="4187952"/>
            <a:ext cx="1234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12848" y="4206240"/>
            <a:ext cx="2542032" cy="283464"/>
          </a:xfrm>
          <a:prstGeom prst="roundRect">
            <a:avLst>
              <a:gd name="adj" fmla="val 45161"/>
            </a:avLst>
          </a:prstGeom>
          <a:solidFill>
            <a:srgbClr val="139B75"/>
          </a:solidFill>
          <a:ln w="11430">
            <a:solidFill>
              <a:srgbClr val="139B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160520"/>
            <a:ext cx="64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5.52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" y="4690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平均接受长度（含 bonus token）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9672" y="204825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线上：DeepSeek-V4 · live traffic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638544" y="2724912"/>
            <a:ext cx="4480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60–85%</a:t>
            </a:r>
            <a:endParaRPr lang="en-US" sz="4500" dirty="0"/>
          </a:p>
        </p:txBody>
      </p:sp>
      <p:sp>
        <p:nvSpPr>
          <p:cNvPr id="23" name="Text 21"/>
          <p:cNvSpPr/>
          <p:nvPr/>
        </p:nvSpPr>
        <p:spPr>
          <a:xfrm>
            <a:off x="6647688" y="3694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相对生产基线 MTP-1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74536" y="4215384"/>
            <a:ext cx="46451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相同吞吐下的单用户生成速度提升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" y="56509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63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注意：离线接受长度 ≠ 线上端到端加速；线上对照对象是 MTP-1。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C67D8"/>
          </a:solidFill>
          <a:ln w="12700">
            <a:solidFill>
              <a:srgbClr val="2C67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TAKEAWAY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总结与可研究的问题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11000232" cy="0"/>
          </a:xfrm>
          <a:prstGeom prst="line">
            <a:avLst/>
          </a:prstGeom>
          <a:noFill/>
          <a:ln w="19050">
            <a:solidFill>
              <a:srgbClr val="DFE6F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621792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· 5分钟论文分享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18520" y="64830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" y="1783080"/>
            <a:ext cx="10817352" cy="1033272"/>
          </a:xfrm>
          <a:prstGeom prst="roundRect">
            <a:avLst>
              <a:gd name="adj" fmla="val 12389"/>
            </a:avLst>
          </a:prstGeom>
          <a:solidFill>
            <a:srgbClr val="EAF2FF"/>
          </a:solidFill>
          <a:ln w="11430">
            <a:solidFill>
              <a:srgbClr val="D0DE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2082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C67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DSpark = DFlash 并行 Backbone + 轻量顺序头 + 置信度调度验证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8680" y="31821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9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12724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用低成本顺序依赖缓解远距离 Token 的接受率下降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721608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动态裁剪验证长度，减少高并发下的计算浪费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9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544568"/>
            <a:ext cx="9326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721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的表达能力、置信度校准与硬件负载变化仍值得研究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5742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875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论文：arxiv.org/abs/2607.05147    代码：github.com/deepseek-ai/DeepSpec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DSpark 组会汇报</dc:title>
  <dc:subject>DSpark 5-minute group presentation</dc:subject>
  <dc:creator>OpenAI</dc:creator>
  <cp:lastModifiedBy>OpenAI</cp:lastModifiedBy>
  <cp:revision>1</cp:revision>
  <dcterms:created xsi:type="dcterms:W3CDTF">2026-10-19T12:28:27Z</dcterms:created>
  <dcterms:modified xsi:type="dcterms:W3CDTF">2026-10-19T12:28:27Z</dcterms:modified>
</cp:coreProperties>
</file>