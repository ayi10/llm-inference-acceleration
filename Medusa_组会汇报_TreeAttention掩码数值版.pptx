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方法二只讲候选树。以 I think it 为上下文，第一个预测头给 is / was，第二个预测头给 good / great / bad。按照深度把 Top-2 和 Top-3 组合，形成两层、六条两步候选路径。注意：现在还没有接受任何 token，只是在提出多种可能的未来。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方法三介绍 Tree Attention。首先把树的所有节点展平成一行，按层排列：I think it、is、was、good great bad（is 分支）、good great bad（was 分支）。展平只是一种计算布局，不代表这些词构成一条序列。接着使用树结构的 Attention Mask，行表示当前 Query，列表示可访问的 Key。以 good(is) 为例，它能够注意原始上下文、is 和自身，不能注意 was、great(is) 或其他分支。矩阵示意中使用加性 Attention Mask：允许关注的位置写 0，表示不改变 attention score；禁止关注的位置写负无穷 −∞，经过 softmax 后对应权重为 0。C 格合并整个 Context，实际模型保留 Context 内的因果注意力。不同分支不会泄漏信息，所以目标模型可以一次 forward 并行处理候选树。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Medusa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21792" y="1298448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E7FF"/>
                </a:solidFill>
              </a:rPr>
              <a:t>Simple LLM Inference Acceleration Framework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DDE7FF"/>
                </a:solidFill>
              </a:rPr>
              <a:t>with Multiple Decoding Heads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828800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0AA6B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A6B8"/>
                </a:solidFill>
              </a:rPr>
              <a:t>Speculative Decoding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2331720"/>
            <a:ext cx="1600200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7A4D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4DFF"/>
                </a:solidFill>
              </a:rPr>
              <a:t>Multiple Heads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34840" y="2331720"/>
            <a:ext cx="1508760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Tree Attention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1024128"/>
            <a:ext cx="1828800" cy="777240"/>
          </a:xfrm>
          <a:prstGeom prst="rect">
            <a:avLst/>
          </a:prstGeom>
          <a:solidFill>
            <a:srgbClr val="192B4D"/>
          </a:solidFill>
          <a:ln w="12700">
            <a:solidFill>
              <a:srgbClr val="3559A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Target LLM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Backbone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97880" y="2834640"/>
            <a:ext cx="1005840" cy="640080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 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834640"/>
            <a:ext cx="1005840" cy="640080"/>
          </a:xfrm>
          <a:prstGeom prst="rect">
            <a:avLst/>
          </a:prstGeom>
          <a:solidFill>
            <a:srgbClr val="0AA6B8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834640"/>
            <a:ext cx="1005840" cy="640080"/>
          </a:xfrm>
          <a:prstGeom prst="rect">
            <a:avLst/>
          </a:prstGeom>
          <a:solidFill>
            <a:srgbClr val="7A4D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49840" y="2834640"/>
            <a:ext cx="10058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810512"/>
            <a:ext cx="594360" cy="978408"/>
          </a:xfrm>
          <a:prstGeom prst="line">
            <a:avLst/>
          </a:prstGeom>
          <a:noFill/>
          <a:ln w="22860">
            <a:solidFill>
              <a:srgbClr val="A7BF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1810512"/>
            <a:ext cx="822960" cy="978408"/>
          </a:xfrm>
          <a:prstGeom prst="line">
            <a:avLst/>
          </a:prstGeom>
          <a:noFill/>
          <a:ln w="22860">
            <a:solidFill>
              <a:srgbClr val="A7BF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1810512"/>
            <a:ext cx="2240280" cy="978408"/>
          </a:xfrm>
          <a:prstGeom prst="line">
            <a:avLst/>
          </a:prstGeom>
          <a:noFill/>
          <a:ln w="22860">
            <a:solidFill>
              <a:srgbClr val="A7BF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810512"/>
            <a:ext cx="1645920" cy="978408"/>
          </a:xfrm>
          <a:prstGeom prst="line">
            <a:avLst/>
          </a:prstGeom>
          <a:noFill/>
          <a:ln w="22860">
            <a:solidFill>
              <a:srgbClr val="A7BF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核心一句话：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给原 LLM 多接几个轻量 Head，让它一次猜多个未来 token，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再用 Target LLM 一次性验证候选树。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Cai et al., Medusa, arXiv:2401.10774 / ICML 2024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540" y="-264160"/>
            <a:ext cx="6149975" cy="10927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研究背景：为什么需要加速解码？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自回归 decode 一次通常只能前进一个 token，串行 Target forward 成为瓶颈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3657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Autoregressive Decoding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412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52238"/>
                </a:solidFill>
              </a:rPr>
              <a:t>Prefix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28216" y="2148840"/>
            <a:ext cx="841248" cy="530352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Fwd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70632" y="2148840"/>
            <a:ext cx="8412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52238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3048" y="2148840"/>
            <a:ext cx="841248" cy="530352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Fwd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55464" y="2148840"/>
            <a:ext cx="8412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52238"/>
                </a:solidFill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148840"/>
            <a:ext cx="841248" cy="530352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2238"/>
                </a:solidFill>
              </a:rPr>
              <a:t>Fwd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0296" y="2148840"/>
            <a:ext cx="8412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52238"/>
                </a:solidFill>
              </a:rPr>
              <a:t>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27048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9464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11880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54296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96712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39128" y="2414016"/>
            <a:ext cx="182880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85800" y="299923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K tokens = K 次串行 Target forward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743200" cy="3657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Speculative Decoding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617720"/>
            <a:ext cx="192024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Draft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提出 A B C 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480" y="4956048"/>
            <a:ext cx="64008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401568" y="4617720"/>
            <a:ext cx="1920240" cy="685800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Target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一次并行验证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4956048"/>
            <a:ext cx="640080" cy="0"/>
          </a:xfrm>
          <a:prstGeom prst="line">
            <a:avLst/>
          </a:prstGeom>
          <a:noFill/>
          <a:ln w="2032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108192" y="4617720"/>
            <a:ext cx="150876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29A3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A36A"/>
                </a:solidFill>
              </a:rPr>
              <a:t>✓ ✓ ✓ 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9A36A"/>
                </a:solidFill>
              </a:rPr>
              <a:t>接受 A B 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1417320"/>
            <a:ext cx="2560320" cy="3657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问题的本质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2057400"/>
            <a:ext cx="3337560" cy="21945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生成阶段：未来 token 未知，必须串行依赖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验证阶段：候选 token 已知，可以并行计算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Medusa 想进一步降低 draft/系统复杂度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Leviathan et al. 2023; Medusa paper, arXiv:2401.10774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2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核心动机：不要额外 Draft Model，直接让 Target 自己 Draft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传统 SD 需要找到、训练、维护一个额外 draft model；Medusa 把 draft 能力挂到原模型上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023360" cy="3657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Vanilla Speculative Decoding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60020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Draft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240280"/>
            <a:ext cx="1600200" cy="566928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238"/>
                </a:solidFill>
              </a:rPr>
              <a:t>Target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523744"/>
            <a:ext cx="576072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痛点：需要额外模型，采样时匹配更难，系统部署复杂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1417320"/>
            <a:ext cx="4023360" cy="3657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Medusa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2651760" cy="502920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238"/>
                </a:solidFill>
              </a:rPr>
              <a:t>Target LLM Backbone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2834640"/>
            <a:ext cx="12344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52238"/>
                </a:solidFill>
              </a:rPr>
              <a:t>LM Head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086600" y="2834640"/>
            <a:ext cx="12344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AA6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52238"/>
                </a:solidFill>
              </a:rPr>
              <a:t>Medusa Head 1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03920" y="2834640"/>
            <a:ext cx="12344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A4D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52238"/>
                </a:solidFill>
              </a:rPr>
              <a:t>Medusa Head 2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921240" y="2834640"/>
            <a:ext cx="12344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52238"/>
                </a:solidFill>
              </a:rPr>
              <a:t>Medusa Head 3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 rot="8700000">
            <a:off x="6291072" y="2359152"/>
            <a:ext cx="1572768" cy="42976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99248" y="2359152"/>
            <a:ext cx="164592" cy="42976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2359152"/>
            <a:ext cx="1234440" cy="42976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2359152"/>
            <a:ext cx="2670048" cy="42976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852160" y="365760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9A36A"/>
                </a:solidFill>
              </a:rPr>
              <a:t>核心改变：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9A36A"/>
                </a:solidFill>
              </a:rPr>
              <a:t>同一个 backbone hidden state 同时预测多个未来位置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23160" y="4983480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9A3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A36A"/>
                </a:solidFill>
              </a:rPr>
              <a:t>Medusa = cheap prediction + parallel verification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3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方法一：Multiple Decoding Heads 如何工作？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从同一个当前 hidden state 出发，多个小 head 分别预测更远位置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1460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238"/>
                </a:solidFill>
              </a:rPr>
              <a:t>当前上下文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52238"/>
                </a:solidFill>
              </a:rPr>
              <a:t>I like 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2852928"/>
            <a:ext cx="64008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16352" y="2377440"/>
            <a:ext cx="1645920" cy="914400"/>
          </a:xfrm>
          <a:prstGeom prst="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238"/>
                </a:solidFill>
              </a:rPr>
              <a:t>Backbone LLM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52238"/>
                </a:solidFill>
              </a:rPr>
              <a:t>得到 h_t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15600000">
            <a:off x="4462272" y="1673352"/>
            <a:ext cx="704088" cy="1161288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62272" y="2569464"/>
            <a:ext cx="704088" cy="265176"/>
          </a:xfrm>
          <a:prstGeom prst="line">
            <a:avLst/>
          </a:prstGeom>
          <a:noFill/>
          <a:ln w="17780">
            <a:solidFill>
              <a:srgbClr val="0AA6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62272" y="2834640"/>
            <a:ext cx="704088" cy="630936"/>
          </a:xfrm>
          <a:prstGeom prst="line">
            <a:avLst/>
          </a:prstGeom>
          <a:noFill/>
          <a:ln w="17780">
            <a:solidFill>
              <a:srgbClr val="7A4D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62272" y="2834640"/>
            <a:ext cx="704088" cy="152704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30368" y="1417320"/>
            <a:ext cx="155448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LM Head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预测 t+1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吃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230368" y="2313432"/>
            <a:ext cx="1554480" cy="621792"/>
          </a:xfrm>
          <a:prstGeom prst="rect">
            <a:avLst/>
          </a:prstGeom>
          <a:solidFill>
            <a:srgbClr val="CCFBF1"/>
          </a:solidFill>
          <a:ln w="12700">
            <a:solidFill>
              <a:srgbClr val="0AA6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Head 1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预测 t+2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苹果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230368" y="3209544"/>
            <a:ext cx="155448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7A4D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Head 2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预测 t+3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很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230368" y="4105656"/>
            <a:ext cx="155448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Head 3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预测 t+4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52238"/>
                </a:solidFill>
              </a:rPr>
              <a:t>好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360920" y="2487168"/>
            <a:ext cx="205740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29A3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A36A"/>
                </a:solidFill>
              </a:rPr>
              <a:t>一次 forward 提出候选：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9A36A"/>
                </a:solidFill>
              </a:rPr>
              <a:t>吃 苹果 很 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84848" y="2834640"/>
            <a:ext cx="530352" cy="0"/>
          </a:xfrm>
          <a:prstGeom prst="line">
            <a:avLst/>
          </a:prstGeom>
          <a:noFill/>
          <a:ln w="21590">
            <a:solidFill>
              <a:srgbClr val="29A36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784080" y="1417320"/>
            <a:ext cx="1143000" cy="34747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注意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10928" y="2011680"/>
            <a:ext cx="1965960" cy="20116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这些 token 只是候选，不是最终输出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越远位置越难猜，因为缺少中间真实 token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所以需要候选树 + Target 验证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4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18288" tIns="9144" rIns="0" bIns="0" rtlCol="0" anchor="ctr"/>
          <a:lstStyle/>
          <a:p>
            <a:r>
              <a:rPr sz="2500" b="1">
                <a:solidFill>
                  <a:srgbClr val="152238"/>
                </a:solidFill>
                <a:latin typeface="微软雅黑" panose="020B0503020204020204" pitchFamily="34" charset="-122"/>
              </a:rPr>
              <a:t>方法二：构造候选树（Candidate Tree）</a:t>
            </a:r>
            <a:endParaRPr sz="2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50">
                <a:solidFill>
                  <a:srgbClr val="667085"/>
                </a:solidFill>
                <a:latin typeface="微软雅黑" panose="020B0503020204020204" pitchFamily="34" charset="-122"/>
              </a:rPr>
              <a:t>每个 Medusa Head 取未来位置的 Top-k，按层级组合成多条候选路径；此时还没有执行验证</a:t>
            </a:r>
            <a:endParaRPr sz="95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5</a:t>
            </a:r>
            <a:endParaRPr lang="en-US" sz="720" dirty="0"/>
          </a:p>
        </p:txBody>
      </p:sp>
      <p:sp>
        <p:nvSpPr>
          <p:cNvPr id="37" name="Rectangle 36"/>
          <p:cNvSpPr/>
          <p:nvPr/>
        </p:nvSpPr>
        <p:spPr>
          <a:xfrm>
            <a:off x="658368" y="1325880"/>
            <a:ext cx="3108960" cy="37490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各个 Head 给出 Top-k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528" y="1920240"/>
            <a:ext cx="2697480" cy="2651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Head 1：预测 t+1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14400" y="2304288"/>
            <a:ext cx="969264" cy="44805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1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139696" y="2304288"/>
            <a:ext cx="969264" cy="448056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微软雅黑" panose="020B0503020204020204" pitchFamily="34" charset="-122"/>
              </a:rPr>
              <a:t>was</a:t>
            </a:r>
            <a:endParaRPr sz="1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5528" y="3090672"/>
            <a:ext cx="2697480" cy="2651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Head 2：预测 t+2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04088" y="3483864"/>
            <a:ext cx="960120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good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773936" y="3483864"/>
            <a:ext cx="960120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great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843784" y="3483864"/>
            <a:ext cx="795528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bad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31520" y="4251960"/>
            <a:ext cx="2862072" cy="594360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270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61688"/>
            <a:ext cx="2651760" cy="3566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A36A"/>
                </a:solidFill>
                <a:latin typeface="微软雅黑" panose="020B0503020204020204" pitchFamily="34" charset="-122"/>
              </a:rPr>
              <a:t>Top-2 × Top-3 = 6 条路径</a:t>
            </a:r>
            <a:endParaRPr sz="1400" b="1">
              <a:solidFill>
                <a:srgbClr val="29A36A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49808" y="5038344"/>
            <a:ext cx="288036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微软雅黑" panose="020B0503020204020204" pitchFamily="34" charset="-122"/>
              </a:rPr>
              <a:t>这里是“提出候选”，并非已经输出</a:t>
            </a:r>
            <a:endParaRPr sz="1200" b="0">
              <a:solidFill>
                <a:srgbClr val="667085"/>
              </a:solidFill>
              <a:latin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85"/>
                </a:solidFill>
                <a:latin typeface="微软雅黑" panose="020B0503020204020204" pitchFamily="34" charset="-122"/>
              </a:rPr>
              <a:t>下一步才让 Target 一次验证</a:t>
            </a:r>
            <a:endParaRPr sz="1200" b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142232" y="1325880"/>
            <a:ext cx="7150608" cy="37490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组合后的候选树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 flipH="1">
            <a:off x="6254496" y="2322576"/>
            <a:ext cx="1545335" cy="576072"/>
          </a:xfrm>
          <a:prstGeom prst="line">
            <a:avLst/>
          </a:prstGeom>
          <a:ln w="22860">
            <a:solidFill>
              <a:srgbClr val="2D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99831" y="2322576"/>
            <a:ext cx="1746505" cy="576072"/>
          </a:xfrm>
          <a:prstGeom prst="line">
            <a:avLst/>
          </a:prstGeom>
          <a:ln w="22860">
            <a:solidFill>
              <a:srgbClr val="2D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166360" y="3364992"/>
            <a:ext cx="1088136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254496" y="3364992"/>
            <a:ext cx="18288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254496" y="3364992"/>
            <a:ext cx="1124712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458200" y="3364992"/>
            <a:ext cx="1088136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46336" y="3364992"/>
            <a:ext cx="18288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546336" y="3364992"/>
            <a:ext cx="1124712" cy="649223"/>
          </a:xfrm>
          <a:prstGeom prst="line">
            <a:avLst/>
          </a:prstGeom>
          <a:ln w="20955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077456" y="1828800"/>
            <a:ext cx="1444752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Context
I think it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760720" y="2907792"/>
            <a:ext cx="987552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1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052560" y="2907792"/>
            <a:ext cx="987552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微软雅黑" panose="020B0503020204020204" pitchFamily="34" charset="-122"/>
              </a:rPr>
              <a:t>was</a:t>
            </a:r>
            <a:endParaRPr sz="1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672584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good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779008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great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885432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bad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964424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good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070848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great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0177272" y="4014215"/>
            <a:ext cx="987552" cy="44805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bad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343400" y="4727448"/>
            <a:ext cx="722376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2238"/>
                </a:solidFill>
                <a:latin typeface="微软雅黑" panose="020B0503020204020204" pitchFamily="34" charset="-122"/>
              </a:rPr>
              <a:t>六条由候选树展开的两步路径</a:t>
            </a:r>
            <a:endParaRPr sz="12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434840" y="5084064"/>
            <a:ext cx="1865376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30" b="1">
                <a:solidFill>
                  <a:srgbClr val="152238"/>
                </a:solidFill>
                <a:latin typeface="微软雅黑" panose="020B0503020204020204" pitchFamily="34" charset="-122"/>
              </a:rPr>
              <a:t>is → good</a:t>
            </a:r>
            <a:endParaRPr sz="113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55664" y="5084064"/>
            <a:ext cx="1865376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30" b="1">
                <a:solidFill>
                  <a:srgbClr val="152238"/>
                </a:solidFill>
                <a:latin typeface="微软雅黑" panose="020B0503020204020204" pitchFamily="34" charset="-122"/>
              </a:rPr>
              <a:t>is → great</a:t>
            </a:r>
            <a:endParaRPr sz="113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439912" y="5084064"/>
            <a:ext cx="1865376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30" b="1">
                <a:solidFill>
                  <a:srgbClr val="152238"/>
                </a:solidFill>
                <a:latin typeface="微软雅黑" panose="020B0503020204020204" pitchFamily="34" charset="-122"/>
              </a:rPr>
              <a:t>is → bad</a:t>
            </a:r>
            <a:endParaRPr sz="113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434840" y="5504688"/>
            <a:ext cx="1865376" cy="338328"/>
          </a:xfrm>
          <a:prstGeom prst="rect">
            <a:avLst/>
          </a:prstGeom>
          <a:solidFill>
            <a:srgbClr val="F1F5F9"/>
          </a:solidFill>
          <a:ln w="1143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52238"/>
                </a:solidFill>
                <a:latin typeface="微软雅黑" panose="020B0503020204020204" pitchFamily="34" charset="-122"/>
              </a:rPr>
              <a:t>was → good</a:t>
            </a:r>
            <a:endParaRPr sz="113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455664" y="5504688"/>
            <a:ext cx="1865376" cy="338328"/>
          </a:xfrm>
          <a:prstGeom prst="rect">
            <a:avLst/>
          </a:prstGeom>
          <a:solidFill>
            <a:srgbClr val="F1F5F9"/>
          </a:solidFill>
          <a:ln w="1143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52238"/>
                </a:solidFill>
                <a:latin typeface="微软雅黑" panose="020B0503020204020204" pitchFamily="34" charset="-122"/>
              </a:rPr>
              <a:t>was → great</a:t>
            </a:r>
            <a:endParaRPr sz="113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439912" y="5504688"/>
            <a:ext cx="1865376" cy="338328"/>
          </a:xfrm>
          <a:prstGeom prst="rect">
            <a:avLst/>
          </a:prstGeom>
          <a:solidFill>
            <a:srgbClr val="F1F5F9"/>
          </a:solidFill>
          <a:ln w="1143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52238"/>
                </a:solidFill>
                <a:latin typeface="微软雅黑" panose="020B0503020204020204" pitchFamily="34" charset="-122"/>
              </a:rPr>
              <a:t>was → bad</a:t>
            </a:r>
            <a:endParaRPr sz="113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18288" tIns="9144" rIns="0" bIns="0" rtlCol="0" anchor="ctr"/>
          <a:lstStyle/>
          <a:p>
            <a:r>
              <a:rPr sz="2500" b="1">
                <a:solidFill>
                  <a:srgbClr val="152238"/>
                </a:solidFill>
                <a:latin typeface="微软雅黑" panose="020B0503020204020204" pitchFamily="34" charset="-122"/>
              </a:rPr>
              <a:t>方法三：Tree Attention 如何并行验证候选树？</a:t>
            </a:r>
            <a:endParaRPr sz="25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950">
                <a:solidFill>
                  <a:srgbClr val="667085"/>
                </a:solidFill>
                <a:latin typeface="微软雅黑" panose="020B0503020204020204" pitchFamily="34" charset="-122"/>
              </a:rPr>
              <a:t>把所有候选 token 展平成一行，但每个节点只能关注 Context、自己路径的祖先及自身</a:t>
            </a:r>
            <a:endParaRPr sz="95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6</a:t>
            </a:r>
            <a:endParaRPr lang="en-US" sz="720" dirty="0"/>
          </a:p>
        </p:txBody>
      </p:sp>
      <p:sp>
        <p:nvSpPr>
          <p:cNvPr id="30" name="Rectangle 29"/>
          <p:cNvSpPr/>
          <p:nvPr/>
        </p:nvSpPr>
        <p:spPr>
          <a:xfrm>
            <a:off x="630936" y="1280160"/>
            <a:ext cx="3675887" cy="356616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① 候选树展平为一个序列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67728" y="1335024"/>
            <a:ext cx="4599432" cy="2651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0" b="0">
                <a:solidFill>
                  <a:srgbClr val="667085"/>
                </a:solidFill>
                <a:latin typeface="微软雅黑" panose="020B0503020204020204" pitchFamily="34" charset="-122"/>
              </a:rPr>
              <a:t>示意：把 I think it 当作 3 个 token</a:t>
            </a:r>
            <a:endParaRPr sz="970" b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5216" y="1847088"/>
            <a:ext cx="53035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I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225296" y="1847088"/>
            <a:ext cx="72237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think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057400" y="1847088"/>
            <a:ext cx="53949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it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807208" y="1847088"/>
            <a:ext cx="685800" cy="42062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602736" y="1847088"/>
            <a:ext cx="804672" cy="42062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6510">
            <a:solidFill>
              <a:srgbClr val="2D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was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681728" y="1847088"/>
            <a:ext cx="841248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50" b="1">
                <a:solidFill>
                  <a:srgbClr val="152238"/>
                </a:solidFill>
                <a:latin typeface="微软雅黑" panose="020B0503020204020204" pitchFamily="34" charset="-122"/>
              </a:rPr>
              <a:t>good</a:t>
            </a:r>
            <a:endParaRPr sz="12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23560" y="1847088"/>
            <a:ext cx="896112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50" b="1">
                <a:solidFill>
                  <a:srgbClr val="152238"/>
                </a:solidFill>
                <a:latin typeface="微软雅黑" panose="020B0503020204020204" pitchFamily="34" charset="-122"/>
              </a:rPr>
              <a:t>great</a:t>
            </a:r>
            <a:endParaRPr sz="12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620256" y="1847088"/>
            <a:ext cx="685800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bad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653527" y="1847088"/>
            <a:ext cx="841248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50" b="1">
                <a:solidFill>
                  <a:srgbClr val="152238"/>
                </a:solidFill>
                <a:latin typeface="微软雅黑" panose="020B0503020204020204" pitchFamily="34" charset="-122"/>
              </a:rPr>
              <a:t>good</a:t>
            </a:r>
            <a:endParaRPr sz="12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595360" y="1847088"/>
            <a:ext cx="896112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250" b="1">
                <a:solidFill>
                  <a:srgbClr val="152238"/>
                </a:solidFill>
                <a:latin typeface="微软雅黑" panose="020B0503020204020204" pitchFamily="34" charset="-122"/>
              </a:rPr>
              <a:t>great</a:t>
            </a:r>
            <a:endParaRPr sz="12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592056" y="1847088"/>
            <a:ext cx="685800" cy="42062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6510">
            <a:solidFill>
              <a:srgbClr val="F59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300" b="1">
                <a:solidFill>
                  <a:srgbClr val="152238"/>
                </a:solidFill>
                <a:latin typeface="微软雅黑" panose="020B0503020204020204" pitchFamily="34" charset="-122"/>
              </a:rPr>
              <a:t>bad</a:t>
            </a:r>
            <a:endParaRPr sz="13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10424160" y="2057400"/>
            <a:ext cx="347472" cy="0"/>
          </a:xfrm>
          <a:prstGeom prst="line">
            <a:avLst/>
          </a:prstGeom>
          <a:ln w="21590">
            <a:solidFill>
              <a:srgbClr val="29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817352" y="1865376"/>
            <a:ext cx="722376" cy="3657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</a:rPr>
              <a:t>Target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85216" y="2331720"/>
            <a:ext cx="2011680" cy="0"/>
          </a:xfrm>
          <a:prstGeom prst="line">
            <a:avLst/>
          </a:prstGeom>
          <a:ln w="279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5216" y="2391156"/>
            <a:ext cx="2011679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微软雅黑" panose="020B0503020204020204" pitchFamily="34" charset="-122"/>
              </a:rPr>
              <a:t>原始 Context</a:t>
            </a:r>
            <a:endParaRPr sz="1000" b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2807208" y="2331720"/>
            <a:ext cx="1600200" cy="0"/>
          </a:xfrm>
          <a:prstGeom prst="line">
            <a:avLst/>
          </a:prstGeom>
          <a:ln w="27940">
            <a:solidFill>
              <a:srgbClr val="2D6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807208" y="2391156"/>
            <a:ext cx="160020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68FF"/>
                </a:solidFill>
                <a:latin typeface="微软雅黑" panose="020B0503020204020204" pitchFamily="34" charset="-122"/>
              </a:rPr>
              <a:t>第 1 层</a:t>
            </a:r>
            <a:endParaRPr sz="1000" b="0">
              <a:solidFill>
                <a:srgbClr val="2D68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681728" y="2331720"/>
            <a:ext cx="2624328" cy="0"/>
          </a:xfrm>
          <a:prstGeom prst="line">
            <a:avLst/>
          </a:prstGeom>
          <a:ln w="27940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81728" y="2391156"/>
            <a:ext cx="2624328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990B"/>
                </a:solidFill>
                <a:latin typeface="微软雅黑" panose="020B0503020204020204" pitchFamily="34" charset="-122"/>
              </a:rPr>
              <a:t>is 分支第 2 层</a:t>
            </a:r>
            <a:endParaRPr sz="1000" b="0">
              <a:solidFill>
                <a:srgbClr val="F5990B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7653527" y="2331720"/>
            <a:ext cx="2624329" cy="0"/>
          </a:xfrm>
          <a:prstGeom prst="line">
            <a:avLst/>
          </a:prstGeom>
          <a:ln w="27940">
            <a:solidFill>
              <a:srgbClr val="F599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653527" y="2391156"/>
            <a:ext cx="2624328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990B"/>
                </a:solidFill>
                <a:latin typeface="微软雅黑" panose="020B0503020204020204" pitchFamily="34" charset="-122"/>
              </a:rPr>
              <a:t>was 分支第 2 层</a:t>
            </a:r>
            <a:endParaRPr sz="1000" b="0">
              <a:solidFill>
                <a:srgbClr val="F5990B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" y="2688336"/>
            <a:ext cx="10899648" cy="283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52238"/>
                </a:solidFill>
                <a:latin typeface="微软雅黑" panose="020B0503020204020204" pitchFamily="34" charset="-122"/>
              </a:rPr>
              <a:t>注意：写成一行只是方便并行计算，不代表这些 token 构成同一条自回归路径。</a:t>
            </a:r>
            <a:endParaRPr sz="117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30936" y="3136392"/>
            <a:ext cx="3840480" cy="34747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② Tree Attention Mask：谁能看谁？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71016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C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31289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91563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w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351836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gᵢ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12110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rᵢ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72384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bᵢ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32657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gʷ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792931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rʷ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53204" y="3593591"/>
            <a:ext cx="360273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52238"/>
                </a:solidFill>
                <a:latin typeface="微软雅黑" panose="020B0503020204020204" pitchFamily="34" charset="-122"/>
              </a:rPr>
              <a:t>bʷ</a:t>
            </a:r>
            <a:endParaRPr sz="94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31520" y="3904487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C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285646" y="3915460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645919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006193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366467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726740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087014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47287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807561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167835" y="3915460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31520" y="4134916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285646" y="4145889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645919" y="4145889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006193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366467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726740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087014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447287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807561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167835" y="4145889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31520" y="4365345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w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85646" y="4376318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645919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006193" y="4376318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2366467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726740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87014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447287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807561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167835" y="4376318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1520" y="4595774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gᵢ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285646" y="4606747"/>
            <a:ext cx="328269" cy="209397"/>
          </a:xfrm>
          <a:prstGeom prst="rect">
            <a:avLst/>
          </a:prstGeom>
          <a:solidFill>
            <a:srgbClr val="E0F5EB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55D41"/>
                </a:solidFill>
                <a:latin typeface="微软雅黑" panose="020B0503020204020204" pitchFamily="34" charset="-122"/>
              </a:rPr>
              <a:t>0</a:t>
            </a:r>
            <a:endParaRPr sz="980" b="1">
              <a:solidFill>
                <a:srgbClr val="155D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645919" y="4606747"/>
            <a:ext cx="328269" cy="209397"/>
          </a:xfrm>
          <a:prstGeom prst="rect">
            <a:avLst/>
          </a:prstGeom>
          <a:solidFill>
            <a:srgbClr val="E0F5EB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55D41"/>
                </a:solidFill>
                <a:latin typeface="微软雅黑" panose="020B0503020204020204" pitchFamily="34" charset="-122"/>
              </a:rPr>
              <a:t>0</a:t>
            </a:r>
            <a:endParaRPr sz="980" b="1">
              <a:solidFill>
                <a:srgbClr val="155D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006193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2366467" y="4606747"/>
            <a:ext cx="328269" cy="209397"/>
          </a:xfrm>
          <a:prstGeom prst="rect">
            <a:avLst/>
          </a:prstGeom>
          <a:solidFill>
            <a:srgbClr val="E0F5EB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55D41"/>
                </a:solidFill>
                <a:latin typeface="微软雅黑" panose="020B0503020204020204" pitchFamily="34" charset="-122"/>
              </a:rPr>
              <a:t>0</a:t>
            </a:r>
            <a:endParaRPr sz="980" b="1">
              <a:solidFill>
                <a:srgbClr val="155D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2726740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3087014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447287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807561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167835" y="4606747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1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31520" y="4826203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rᵢ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285646" y="4837175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645919" y="4837175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006193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2366467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726740" y="4837175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3087014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3447287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807561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4167835" y="4837175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31520" y="5056631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bᵢ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285646" y="5067604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645919" y="5067604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2006193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2366467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726740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3087014" y="5067604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447287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3807561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4167835" y="5067604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31520" y="5287060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gʷ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285646" y="5298033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645919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006193" y="5298033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2366467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2726740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087014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447287" y="5298033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3807561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167835" y="5298033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31520" y="5517489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rʷ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285646" y="5528462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645919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2006193" y="5528462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2366467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2726740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3087014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447287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3807561" y="5528462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4167835" y="5528462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731520" y="5747918"/>
            <a:ext cx="429768" cy="2304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52238"/>
                </a:solidFill>
                <a:latin typeface="微软雅黑" panose="020B0503020204020204" pitchFamily="34" charset="-122"/>
              </a:rPr>
              <a:t>bʷ</a:t>
            </a:r>
            <a:endParaRPr sz="100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285646" y="5758891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645919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2006193" y="5758891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2366467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2726740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3087014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3447287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3807561" y="5758891"/>
            <a:ext cx="328269" cy="209397"/>
          </a:xfrm>
          <a:prstGeom prst="rect">
            <a:avLst/>
          </a:prstGeom>
          <a:solidFill>
            <a:srgbClr val="EFF2F6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6A7486"/>
                </a:solidFill>
                <a:latin typeface="微软雅黑" panose="020B0503020204020204" pitchFamily="34" charset="-122"/>
              </a:rPr>
              <a:t>−∞</a:t>
            </a:r>
            <a:endParaRPr sz="900" b="0">
              <a:solidFill>
                <a:srgbClr val="6A74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4167835" y="5758891"/>
            <a:ext cx="328269" cy="209397"/>
          </a:xfrm>
          <a:prstGeom prst="rect">
            <a:avLst/>
          </a:prstGeom>
          <a:solidFill>
            <a:srgbClr val="FFFFFF"/>
          </a:solidFill>
          <a:ln w="6096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0">
                <a:solidFill>
                  <a:srgbClr val="152238"/>
                </a:solidFill>
                <a:latin typeface="微软雅黑" panose="020B0503020204020204" pitchFamily="34" charset="-122"/>
              </a:rPr>
              <a:t>0</a:t>
            </a:r>
            <a:endParaRPr sz="98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4562856" y="4586630"/>
            <a:ext cx="1042415" cy="2468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0" b="1">
                <a:solidFill>
                  <a:srgbClr val="29A36A"/>
                </a:solidFill>
                <a:latin typeface="微软雅黑" panose="020B0503020204020204" pitchFamily="34" charset="-122"/>
              </a:rPr>
              <a:t>← good(is) 行</a:t>
            </a:r>
            <a:endParaRPr sz="970" b="1">
              <a:solidFill>
                <a:srgbClr val="29A36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31520" y="6044184"/>
            <a:ext cx="5047488" cy="1554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微软雅黑" panose="020B0503020204020204" pitchFamily="34" charset="-122"/>
              </a:rPr>
              <a:t>C = Context；g/r/b = good/great/bad；i/w = is/was 分支</a:t>
            </a:r>
            <a:endParaRPr sz="850" b="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5541264" y="3255264"/>
            <a:ext cx="5779008" cy="2633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4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696712" y="3419856"/>
            <a:ext cx="5449824" cy="39319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</a:rPr>
              <a:t>例：good(is) 为什么不会“串分支”？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5760720" y="3986784"/>
            <a:ext cx="1115568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9A36A"/>
                </a:solidFill>
                <a:latin typeface="微软雅黑" panose="020B0503020204020204" pitchFamily="34" charset="-122"/>
              </a:rPr>
              <a:t>✓ 允许关注</a:t>
            </a:r>
            <a:endParaRPr sz="1300" b="1">
              <a:solidFill>
                <a:srgbClr val="29A36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7004304" y="3959352"/>
            <a:ext cx="1024128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50" b="1">
                <a:solidFill>
                  <a:srgbClr val="152238"/>
                </a:solidFill>
                <a:latin typeface="微软雅黑" panose="020B0503020204020204" pitchFamily="34" charset="-122"/>
              </a:rPr>
              <a:t>Context</a:t>
            </a:r>
            <a:endParaRPr sz="11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8174736" y="3959352"/>
            <a:ext cx="603504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50" b="1">
                <a:solidFill>
                  <a:srgbClr val="152238"/>
                </a:solidFill>
                <a:latin typeface="微软雅黑" panose="020B0503020204020204" pitchFamily="34" charset="-122"/>
              </a:rPr>
              <a:t>is</a:t>
            </a:r>
            <a:endParaRPr sz="11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8961120" y="3959352"/>
            <a:ext cx="1234440" cy="356616"/>
          </a:xfrm>
          <a:prstGeom prst="roundRect">
            <a:avLst>
              <a:gd name="adj" fmla="val 12000"/>
            </a:avLst>
          </a:prstGeom>
          <a:solidFill>
            <a:srgbClr val="E7F9EE"/>
          </a:solidFill>
          <a:ln w="16510">
            <a:solidFill>
              <a:srgbClr val="29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" tIns="0" rIns="22860" bIns="0" rtlCol="0" anchor="ctr"/>
          <a:lstStyle/>
          <a:p>
            <a:pPr algn="ctr"/>
            <a:r>
              <a:rPr sz="1150" b="1">
                <a:solidFill>
                  <a:srgbClr val="152238"/>
                </a:solidFill>
                <a:latin typeface="微软雅黑" panose="020B0503020204020204" pitchFamily="34" charset="-122"/>
              </a:rPr>
              <a:t>good(is)</a:t>
            </a:r>
            <a:endParaRPr sz="115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760720" y="4562856"/>
            <a:ext cx="128016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4537"/>
                </a:solidFill>
                <a:latin typeface="微软雅黑" panose="020B0503020204020204" pitchFamily="34" charset="-122"/>
              </a:rPr>
              <a:t>× 禁止关注</a:t>
            </a:r>
            <a:endParaRPr sz="1300" b="1">
              <a:solidFill>
                <a:srgbClr val="BC45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7059168" y="4553712"/>
            <a:ext cx="4050791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2238"/>
                </a:solidFill>
                <a:latin typeface="微软雅黑" panose="020B0503020204020204" pitchFamily="34" charset="-122"/>
              </a:rPr>
              <a:t>was、great(is)、其他任意分支的 token</a:t>
            </a:r>
            <a:endParaRPr sz="1200" b="0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65" name="Connector 164"/>
          <p:cNvCxnSpPr/>
          <p:nvPr/>
        </p:nvCxnSpPr>
        <p:spPr>
          <a:xfrm>
            <a:off x="5788152" y="5056632"/>
            <a:ext cx="5294376" cy="0"/>
          </a:xfrm>
          <a:prstGeom prst="line">
            <a:avLst/>
          </a:prstGeom>
          <a:ln w="11430">
            <a:solidFill>
              <a:srgbClr val="C4D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5806440" y="5166360"/>
            <a:ext cx="5257800" cy="2834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52238"/>
                </a:solidFill>
                <a:latin typeface="微软雅黑" panose="020B0503020204020204" pitchFamily="34" charset="-122"/>
              </a:rPr>
              <a:t>关键：每个节点只沿自己的“树路径”做因果 Attention。</a:t>
            </a:r>
            <a:endParaRPr sz="1210" b="1">
              <a:solidFill>
                <a:srgbClr val="1522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5806440" y="5513832"/>
            <a:ext cx="5294376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9A36A"/>
                </a:solidFill>
                <a:latin typeface="微软雅黑" panose="020B0503020204020204" pitchFamily="34" charset="-122"/>
              </a:rPr>
              <a:t>效果：一次 Target forward 计算所有分支，同时避免分支之间的信息泄漏。</a:t>
            </a:r>
            <a:endParaRPr sz="1150" b="1">
              <a:solidFill>
                <a:srgbClr val="29A36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训练方式与实验结果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Medusa-1 低成本接入；Medusa-2 联合微调追求更高速度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920240" cy="38404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Medusa-1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114800" cy="18288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冻结 backbone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只训练额外 Medusa Heads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适合已有模型低成本加速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论文报告 &gt;2.2× speedup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920240" cy="38404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Medusa-2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4206240" cy="1554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Backbone + Heads 联合微调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让表示更适合多步预测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速度更高，但训练更复杂</a:t>
            </a:r>
            <a:endParaRPr lang="en-US" sz="1600" dirty="0"/>
          </a:p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152238"/>
                </a:solidFill>
              </a:rPr>
              <a:t>论文报告约 2.3–3.6× speedup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417320"/>
            <a:ext cx="2103120" cy="384048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速度结论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214884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2084832"/>
            <a:ext cx="822960" cy="310896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084832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</a:rPr>
              <a:t>1.0×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301752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Medusa-1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953512"/>
            <a:ext cx="1810512" cy="31089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2953512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FF"/>
                </a:solidFill>
              </a:rPr>
              <a:t>&gt;2.2×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886200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Medusa-2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3822192"/>
            <a:ext cx="2962656" cy="310896"/>
          </a:xfrm>
          <a:prstGeom prst="rect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9296" y="3822192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A36A"/>
                </a:solidFill>
              </a:rPr>
              <a:t>2.3–3.6×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5166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A4DFF"/>
                </a:solidFill>
              </a:rPr>
              <a:t>实验重点不是改变模型结构主干，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7A4DFF"/>
                </a:solidFill>
              </a:rPr>
              <a:t>而是减少 decode iteration 数。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arXiv:2401.10774; project README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7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2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启示：Medusa 为什么重要？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它证明了 Draft 不一定来自独立小模型，也可以来自目标模型自身的多头预测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1234440" cy="34747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启示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Speculative Decoding 的核心不是“小模型”，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而是 cheap draft + expensive verify。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1463040"/>
            <a:ext cx="1234440" cy="347472"/>
          </a:xfrm>
          <a:prstGeom prst="rect">
            <a:avLst/>
          </a:prstGeom>
          <a:solidFill>
            <a:srgbClr val="7A4DFF"/>
          </a:solidFill>
          <a:ln w="12700">
            <a:solidFill>
              <a:srgbClr val="7A4D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启示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93852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Tree Attention 是系统关键：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一次 forward 里模拟多条 causal path。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1463040"/>
            <a:ext cx="12344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启示 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1938528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主要瓶颈：越远 token 越难预测，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后续 EAGLE/PARD 等都在解决这个问题。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4160520"/>
            <a:ext cx="8366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9A3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A36A"/>
                </a:solidFill>
              </a:rPr>
              <a:t>一句话总结：Medusa = 给 Target LLM 加多个轻量 decoding heads，构造候选树，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9A36A"/>
                </a:solidFill>
              </a:rPr>
              <a:t>通过 tree attention 一次验证，从而一轮接受多个 token。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254496"/>
            <a:ext cx="10972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</a:rPr>
              <a:t>Source: Medusa paper, arXiv:2401.10774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Medusa: Simple LLM Inference Acceleration Framework with Multiple Decoding Heads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365992" y="65196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94A3B8"/>
                </a:solidFill>
              </a:rPr>
              <a:t>8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3671</Words>
  <Application>WPS 演示</Application>
  <PresentationFormat>On-screen Show (16:9)</PresentationFormat>
  <Paragraphs>564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Medusa paper summary</dc:title>
  <dc:creator>OpenAI</dc:creator>
  <dc:subject>Medusa paper summary</dc:subject>
  <cp:lastModifiedBy>。。。</cp:lastModifiedBy>
  <cp:revision>3</cp:revision>
  <dcterms:created xsi:type="dcterms:W3CDTF">2026-10-07T03:16:00Z</dcterms:created>
  <dcterms:modified xsi:type="dcterms:W3CDTF">2026-10-13T10:32:37Z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44D3C94841E040B88C9A27B9E1470ECB_12</vt:lpwstr>
  </property>
</Properties>
</file>